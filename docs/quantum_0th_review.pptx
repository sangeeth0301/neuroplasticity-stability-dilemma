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61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4329E"/>
          </a:solidFill>
          <a:ln/>
        </p:spPr>
      </p:sp>
      <p:sp>
        <p:nvSpPr>
          <p:cNvPr id="3" name="Text 1"/>
          <p:cNvSpPr/>
          <p:nvPr/>
        </p:nvSpPr>
        <p:spPr>
          <a:xfrm>
            <a:off x="822960" y="2468880"/>
            <a:ext cx="10515600" cy="14630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Neuroplasticity in Continual Quantum Learning</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for the Stability-Plasticity Dilemma</a:t>
            </a:r>
            <a:endParaRPr lang="en-US" sz="3000" dirty="0"/>
          </a:p>
        </p:txBody>
      </p:sp>
      <p:sp>
        <p:nvSpPr>
          <p:cNvPr id="4" name="Text 2"/>
          <p:cNvSpPr/>
          <p:nvPr/>
        </p:nvSpPr>
        <p:spPr>
          <a:xfrm>
            <a:off x="822960" y="4023360"/>
            <a:ext cx="10515600" cy="457200"/>
          </a:xfrm>
          <a:prstGeom prst="rect">
            <a:avLst/>
          </a:prstGeom>
          <a:noFill/>
          <a:ln/>
        </p:spPr>
        <p:txBody>
          <a:bodyPr wrap="square" rtlCol="0" anchor="ctr"/>
          <a:lstStyle/>
          <a:p>
            <a:pPr marL="0" indent="0" algn="ctr">
              <a:buNone/>
            </a:pPr>
            <a:r>
              <a:rPr lang="en-US" sz="1600" i="1" dirty="0">
                <a:solidFill>
                  <a:srgbClr val="C7C9F0"/>
                </a:solidFill>
                <a:latin typeface="Calibri" pitchFamily="34" charset="0"/>
                <a:ea typeface="Calibri" pitchFamily="34" charset="-122"/>
                <a:cs typeface="Calibri" pitchFamily="34" charset="-120"/>
              </a:rPr>
              <a:t>Engineering Neuroplasticity in Continual Quantum Learning</a:t>
            </a:r>
            <a:endParaRPr lang="en-US" sz="1600" dirty="0"/>
          </a:p>
        </p:txBody>
      </p:sp>
      <p:sp>
        <p:nvSpPr>
          <p:cNvPr id="5" name="Text 3"/>
          <p:cNvSpPr/>
          <p:nvPr/>
        </p:nvSpPr>
        <p:spPr>
          <a:xfrm>
            <a:off x="822960" y="6035040"/>
            <a:ext cx="10515600" cy="365760"/>
          </a:xfrm>
          <a:prstGeom prst="rect">
            <a:avLst/>
          </a:prstGeom>
          <a:noFill/>
          <a:ln/>
        </p:spPr>
        <p:txBody>
          <a:bodyPr wrap="square" rtlCol="0" anchor="ctr"/>
          <a:lstStyle/>
          <a:p>
            <a:pPr marL="0" indent="0" algn="ctr">
              <a:buNone/>
            </a:pPr>
            <a:r>
              <a:rPr lang="en-US" sz="1300" dirty="0">
                <a:solidFill>
                  <a:srgbClr val="C7C9F0"/>
                </a:solidFill>
                <a:latin typeface="Calibri" pitchFamily="34" charset="0"/>
                <a:ea typeface="Calibri" pitchFamily="34" charset="-122"/>
                <a:cs typeface="Calibri" pitchFamily="34" charset="-120"/>
              </a:rPr>
              <a:t>July 16, 2026</a:t>
            </a:r>
            <a:endParaRPr lang="en-US" sz="1300" dirty="0"/>
          </a:p>
        </p:txBody>
      </p:sp>
      <p:sp>
        <p:nvSpPr>
          <p:cNvPr id="6" name="Text 4"/>
          <p:cNvSpPr/>
          <p:nvPr/>
        </p:nvSpPr>
        <p:spPr>
          <a:xfrm>
            <a:off x="10881360" y="6492240"/>
            <a:ext cx="1005840" cy="274320"/>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 / 14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 Problem Statement</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2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The Grand Challenge in Autonomous Systems</a:t>
            </a:r>
            <a:endParaRPr lang="en-US" sz="1500" dirty="0"/>
          </a:p>
        </p:txBody>
      </p:sp>
      <p:sp>
        <p:nvSpPr>
          <p:cNvPr id="9" name="Text 7"/>
          <p:cNvSpPr/>
          <p:nvPr/>
        </p:nvSpPr>
        <p:spPr>
          <a:xfrm>
            <a:off x="457200" y="1417320"/>
            <a:ext cx="11247120" cy="914400"/>
          </a:xfrm>
          <a:prstGeom prst="rect">
            <a:avLst/>
          </a:prstGeom>
          <a:noFill/>
          <a:ln/>
        </p:spPr>
        <p:txBody>
          <a:bodyPr wrap="square" rtlCol="0" anchor="t"/>
          <a:lstStyle/>
          <a:p>
            <a:pPr marL="0" indent="0">
              <a:buNone/>
            </a:pPr>
            <a:r>
              <a:rPr lang="en-US" sz="1400" dirty="0">
                <a:solidFill>
                  <a:srgbClr val="1B1F3B"/>
                </a:solidFill>
                <a:latin typeface="Calibri" pitchFamily="34" charset="0"/>
                <a:ea typeface="Calibri" pitchFamily="34" charset="-122"/>
                <a:cs typeface="Calibri" pitchFamily="34" charset="-120"/>
              </a:rPr>
              <a:t>Artificial intelligence operating in dynamic, real-world environments requires the capacity for lifelong, continual learning. However, modern models suffer from a fundamental flaw when transitioning between tasks (e.g., navigating static walls → dodging moving obstacles).</a:t>
            </a:r>
            <a:endParaRPr lang="en-US" sz="1400" dirty="0"/>
          </a:p>
        </p:txBody>
      </p:sp>
      <p:sp>
        <p:nvSpPr>
          <p:cNvPr id="10" name="Shape 8"/>
          <p:cNvSpPr/>
          <p:nvPr/>
        </p:nvSpPr>
        <p:spPr>
          <a:xfrm>
            <a:off x="457200" y="2514600"/>
            <a:ext cx="11247120" cy="1417320"/>
          </a:xfrm>
          <a:prstGeom prst="roundRect">
            <a:avLst>
              <a:gd name="adj" fmla="val 3871"/>
            </a:avLst>
          </a:prstGeom>
          <a:solidFill>
            <a:srgbClr val="EDEBFB"/>
          </a:solidFill>
          <a:ln w="12700">
            <a:solidFill>
              <a:srgbClr val="D6D2F5"/>
            </a:solidFill>
            <a:prstDash val="solid"/>
          </a:ln>
        </p:spPr>
      </p:sp>
      <p:sp>
        <p:nvSpPr>
          <p:cNvPr id="11" name="Text 9"/>
          <p:cNvSpPr/>
          <p:nvPr/>
        </p:nvSpPr>
        <p:spPr>
          <a:xfrm>
            <a:off x="685800" y="2651760"/>
            <a:ext cx="10789920" cy="1188720"/>
          </a:xfrm>
          <a:prstGeom prst="rect">
            <a:avLst/>
          </a:prstGeom>
          <a:noFill/>
          <a:ln/>
        </p:spPr>
        <p:txBody>
          <a:bodyPr wrap="square" rtlCol="0" anchor="ctr"/>
          <a:lstStyle/>
          <a:p>
            <a:pPr marL="0" indent="0">
              <a:lnSpc>
                <a:spcPts val="1900"/>
              </a:lnSpc>
              <a:buNone/>
            </a:pPr>
            <a:r>
              <a:rPr lang="en-US" sz="1350" b="1" dirty="0">
                <a:solidFill>
                  <a:srgbClr val="34329E"/>
                </a:solidFill>
                <a:latin typeface="Calibri" pitchFamily="34" charset="0"/>
                <a:ea typeface="Calibri" pitchFamily="34" charset="-122"/>
                <a:cs typeface="Calibri" pitchFamily="34" charset="-120"/>
              </a:rPr>
              <a:t>The Core Issue:  </a:t>
            </a:r>
            <a:r>
              <a:rPr lang="en-US" sz="1350" dirty="0">
                <a:solidFill>
                  <a:srgbClr val="1B1F3B"/>
                </a:solidFill>
                <a:latin typeface="Calibri" pitchFamily="34" charset="0"/>
                <a:ea typeface="Calibri" pitchFamily="34" charset="-122"/>
                <a:cs typeface="Calibri" pitchFamily="34" charset="-120"/>
              </a:rPr>
              <a:t>While Quantum Neural Networks (QNNs) solve the issue of long-term learning capacity, current quantum stability mechanisms are entirely “blind” to physical constraints. Because they calculate memory based purely on general statistical rewards, they treat all learned behaviors equally.</a:t>
            </a:r>
            <a:endParaRPr lang="en-US" sz="1350" dirty="0"/>
          </a:p>
        </p:txBody>
      </p:sp>
      <p:sp>
        <p:nvSpPr>
          <p:cNvPr id="12" name="Text 10"/>
          <p:cNvSpPr/>
          <p:nvPr/>
        </p:nvSpPr>
        <p:spPr>
          <a:xfrm>
            <a:off x="457200" y="4160520"/>
            <a:ext cx="11247120" cy="914400"/>
          </a:xfrm>
          <a:prstGeom prst="rect">
            <a:avLst/>
          </a:prstGeom>
          <a:noFill/>
          <a:ln/>
        </p:spPr>
        <p:txBody>
          <a:bodyPr wrap="square" rtlCol="0" anchor="t"/>
          <a:lstStyle/>
          <a:p>
            <a:pPr marL="0" indent="0">
              <a:lnSpc>
                <a:spcPts val="2000"/>
              </a:lnSpc>
              <a:buNone/>
            </a:pPr>
            <a:r>
              <a:rPr lang="en-US" sz="1400" b="1" dirty="0">
                <a:solidFill>
                  <a:srgbClr val="34329E"/>
                </a:solidFill>
                <a:latin typeface="Calibri" pitchFamily="34" charset="0"/>
                <a:ea typeface="Calibri" pitchFamily="34" charset="-122"/>
                <a:cs typeface="Calibri" pitchFamily="34" charset="-120"/>
              </a:rPr>
              <a:t>The Consequence:  </a:t>
            </a:r>
            <a:r>
              <a:rPr lang="en-US" sz="1400" dirty="0">
                <a:solidFill>
                  <a:srgbClr val="1B1F3B"/>
                </a:solidFill>
                <a:latin typeface="Calibri" pitchFamily="34" charset="0"/>
                <a:ea typeface="Calibri" pitchFamily="34" charset="-122"/>
                <a:cs typeface="Calibri" pitchFamily="34" charset="-120"/>
              </a:rPr>
              <a:t>In continuous control environments, this blindness causes quantum agents to frequently overwrite fundamental survival mechanics (e.g., physical collision boundaries) to maximize short-term task rewards.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2. Demystifying AI Terminology for Quantum Architecture</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3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400" i="1" dirty="0">
                <a:solidFill>
                  <a:srgbClr val="3D4160"/>
                </a:solidFill>
                <a:latin typeface="Calibri" pitchFamily="34" charset="0"/>
                <a:ea typeface="Calibri" pitchFamily="34" charset="-122"/>
                <a:cs typeface="Calibri" pitchFamily="34" charset="-120"/>
              </a:rPr>
              <a:t>Translating Cognitive Science into Quantum Mechanics</a:t>
            </a:r>
            <a:endParaRPr lang="en-US" sz="1400" dirty="0"/>
          </a:p>
        </p:txBody>
      </p:sp>
      <p:sp>
        <p:nvSpPr>
          <p:cNvPr id="9" name="Text 7"/>
          <p:cNvSpPr/>
          <p:nvPr/>
        </p:nvSpPr>
        <p:spPr>
          <a:xfrm>
            <a:off x="457200" y="1463040"/>
            <a:ext cx="11247120" cy="5029200"/>
          </a:xfrm>
          <a:prstGeom prst="rect">
            <a:avLst/>
          </a:prstGeom>
          <a:noFill/>
          <a:ln/>
        </p:spPr>
        <p:txBody>
          <a:bodyPr wrap="square" rtlCol="0" anchor="t"/>
          <a:lstStyle/>
          <a:p>
            <a:pPr marL="228600" indent="-228600">
              <a:lnSpc>
                <a:spcPct val="115000"/>
              </a:lnSpc>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Synapses:  </a:t>
            </a:r>
            <a:endParaRPr lang="en-US" sz="1450" dirty="0"/>
          </a:p>
          <a:p>
            <a:pPr marL="228600" indent="-228600">
              <a:lnSpc>
                <a:spcPct val="115000"/>
              </a:lnSpc>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In our context, these are the parameterized quantum rotation gates (Rx, Ry, Rz) within a Variational Quantum Circuit (VQC).</a:t>
            </a:r>
            <a:endParaRPr lang="en-US" sz="1450" dirty="0"/>
          </a:p>
          <a:p>
            <a:pPr marL="228600" indent="-228600">
              <a:lnSpc>
                <a:spcPct val="115000"/>
              </a:lnSpc>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Neuroplasticity (Learning):  </a:t>
            </a:r>
            <a:endParaRPr lang="en-US" sz="1450" dirty="0"/>
          </a:p>
          <a:p>
            <a:pPr marL="228600" indent="-228600">
              <a:lnSpc>
                <a:spcPct val="115000"/>
              </a:lnSpc>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The ability of the network to freely adjust its rotation angles to learn new tasks without the gradients vanishing.</a:t>
            </a:r>
            <a:endParaRPr lang="en-US" sz="1450" dirty="0"/>
          </a:p>
          <a:p>
            <a:pPr marL="228600" indent="-228600">
              <a:lnSpc>
                <a:spcPct val="115000"/>
              </a:lnSpc>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Stability (Memory):  </a:t>
            </a:r>
            <a:endParaRPr lang="en-US" sz="1450" dirty="0"/>
          </a:p>
          <a:p>
            <a:pPr marL="228600" indent="-228600">
              <a:lnSpc>
                <a:spcPct val="115000"/>
              </a:lnSpc>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The ability of the circuit to preserve specific rotation angles that were critical for solving previous tasks.</a:t>
            </a:r>
            <a:endParaRPr lang="en-US" sz="1450" dirty="0"/>
          </a:p>
          <a:p>
            <a:pPr marL="228600" indent="-228600">
              <a:lnSpc>
                <a:spcPct val="115000"/>
              </a:lnSpc>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The Stability-Plasticity Dilemma:  </a:t>
            </a:r>
            <a:endParaRPr lang="en-US" sz="1450" dirty="0"/>
          </a:p>
          <a:p>
            <a:pPr marL="228600" indent="-228600">
              <a:lnSpc>
                <a:spcPct val="115000"/>
              </a:lnSpc>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The mathematical tug-of-war. If gates are too plastic, the model forgets. If gates are too stable, the model freezes.</a:t>
            </a:r>
            <a:endParaRPr lang="en-US" sz="1450" dirty="0"/>
          </a:p>
          <a:p>
            <a:pPr marL="228600" indent="-228600">
              <a:lnSpc>
                <a:spcPct val="115000"/>
              </a:lnSpc>
              <a:spcAft>
                <a:spcPts val="1000"/>
              </a:spcAft>
              <a:buSzPct val="100000"/>
              <a:buChar char="•"/>
            </a:pPr>
            <a:r>
              <a:rPr lang="en-US" sz="1450" b="1" dirty="0">
                <a:solidFill>
                  <a:srgbClr val="1B1F3B"/>
                </a:solidFill>
                <a:latin typeface="Calibri" pitchFamily="34" charset="0"/>
                <a:ea typeface="Calibri" pitchFamily="34" charset="-122"/>
                <a:cs typeface="Calibri" pitchFamily="34" charset="-120"/>
              </a:rPr>
              <a:t>Catastrophic Forgetting:  </a:t>
            </a:r>
            <a:endParaRPr lang="en-US" sz="1450" dirty="0"/>
          </a:p>
          <a:p>
            <a:pPr marL="228600" indent="-228600">
              <a:lnSpc>
                <a:spcPct val="115000"/>
              </a:lnSpc>
              <a:spcAft>
                <a:spcPts val="1000"/>
              </a:spcAft>
              <a:buSzPct val="100000"/>
              <a:buChar char="•"/>
            </a:pPr>
            <a:r>
              <a:rPr lang="en-US" sz="1450" dirty="0">
                <a:solidFill>
                  <a:srgbClr val="1B1F3B"/>
                </a:solidFill>
                <a:latin typeface="Calibri" pitchFamily="34" charset="0"/>
                <a:ea typeface="Calibri" pitchFamily="34" charset="-122"/>
                <a:cs typeface="Calibri" pitchFamily="34" charset="-120"/>
              </a:rPr>
              <a:t>When the optimizer violently overwrites the quantum state optimized for Task A in order to learn Task B.</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3.1 Literature Review: The Plasticity Problem</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4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Classical Failures vs. The Quantum Solution</a:t>
            </a:r>
            <a:endParaRPr lang="en-US" sz="1500" dirty="0"/>
          </a:p>
        </p:txBody>
      </p:sp>
      <p:sp>
        <p:nvSpPr>
          <p:cNvPr id="9" name="Text 7"/>
          <p:cNvSpPr/>
          <p:nvPr/>
        </p:nvSpPr>
        <p:spPr>
          <a:xfrm>
            <a:off x="457200" y="1508760"/>
            <a:ext cx="11247120" cy="36576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Paper 9 (Dohare et al., 2024): </a:t>
            </a:r>
            <a:r>
              <a:rPr lang="en-US" sz="1450" i="1" dirty="0">
                <a:solidFill>
                  <a:srgbClr val="1B1F3B"/>
                </a:solidFill>
                <a:latin typeface="Calibri" pitchFamily="34" charset="0"/>
                <a:ea typeface="Calibri" pitchFamily="34" charset="-122"/>
                <a:cs typeface="Calibri" pitchFamily="34" charset="-120"/>
              </a:rPr>
              <a:t>Loss of plasticity in deep continual learning.</a:t>
            </a:r>
            <a:endParaRPr lang="en-US" sz="1450" dirty="0"/>
          </a:p>
        </p:txBody>
      </p:sp>
      <p:sp>
        <p:nvSpPr>
          <p:cNvPr id="10" name="Text 8"/>
          <p:cNvSpPr/>
          <p:nvPr/>
        </p:nvSpPr>
        <p:spPr>
          <a:xfrm>
            <a:off x="822960" y="1920240"/>
            <a:ext cx="10881360" cy="822960"/>
          </a:xfrm>
          <a:prstGeom prst="rect">
            <a:avLst/>
          </a:prstGeom>
          <a:noFill/>
          <a:ln/>
        </p:spPr>
        <p:txBody>
          <a:bodyPr wrap="square" rtlCol="0" anchor="ctr"/>
          <a:lstStyle/>
          <a:p>
            <a:pPr marL="0" indent="0">
              <a:lnSpc>
                <a:spcPts val="1800"/>
              </a:lnSpc>
              <a:buNone/>
            </a:pPr>
            <a:r>
              <a:rPr lang="en-US" sz="1300" dirty="0">
                <a:solidFill>
                  <a:srgbClr val="3D4160"/>
                </a:solidFill>
                <a:latin typeface="Calibri" pitchFamily="34" charset="0"/>
                <a:ea typeface="Calibri" pitchFamily="34" charset="-122"/>
                <a:cs typeface="Calibri" pitchFamily="34" charset="-120"/>
              </a:rPr>
              <a:t>•  Finding: Proved that classical neural networks eventually lose their ability to learn due to unbounded weight growth. Required forced algorithms (“Continual Backpropagation”) to artificially reset dormant units.</a:t>
            </a:r>
            <a:endParaRPr lang="en-US" sz="1300" dirty="0"/>
          </a:p>
        </p:txBody>
      </p:sp>
      <p:sp>
        <p:nvSpPr>
          <p:cNvPr id="11" name="Text 9"/>
          <p:cNvSpPr/>
          <p:nvPr/>
        </p:nvSpPr>
        <p:spPr>
          <a:xfrm>
            <a:off x="457200" y="2926080"/>
            <a:ext cx="11247120" cy="548640"/>
          </a:xfrm>
          <a:prstGeom prst="rect">
            <a:avLst/>
          </a:prstGeom>
          <a:noFill/>
          <a:ln/>
        </p:spPr>
        <p:txBody>
          <a:bodyPr wrap="square" rtlCol="0" anchor="ctr"/>
          <a:lstStyle/>
          <a:p>
            <a:pPr marL="0" indent="0">
              <a:buNone/>
            </a:pPr>
            <a:r>
              <a:rPr lang="en-US" sz="1450" b="1" dirty="0">
                <a:solidFill>
                  <a:srgbClr val="1B1F3B"/>
                </a:solidFill>
                <a:latin typeface="Calibri" pitchFamily="34" charset="0"/>
                <a:ea typeface="Calibri" pitchFamily="34" charset="-122"/>
                <a:cs typeface="Calibri" pitchFamily="34" charset="-120"/>
              </a:rPr>
              <a:t>Papers 4 &amp; 5 (Chen &amp; Zhang, 2026) — [Our Base Paper]: </a:t>
            </a:r>
            <a:r>
              <a:rPr lang="en-US" sz="1450" i="1" dirty="0">
                <a:solidFill>
                  <a:srgbClr val="1B1F3B"/>
                </a:solidFill>
                <a:latin typeface="Calibri" pitchFamily="34" charset="0"/>
                <a:ea typeface="Calibri" pitchFamily="34" charset="-122"/>
                <a:cs typeface="Calibri" pitchFamily="34" charset="-120"/>
              </a:rPr>
              <a:t>Intrinsic Preservation of Plasticity in Continual Quantum Learning.</a:t>
            </a:r>
            <a:endParaRPr lang="en-US" sz="1450" dirty="0"/>
          </a:p>
        </p:txBody>
      </p:sp>
      <p:sp>
        <p:nvSpPr>
          <p:cNvPr id="12" name="Text 10"/>
          <p:cNvSpPr/>
          <p:nvPr/>
        </p:nvSpPr>
        <p:spPr>
          <a:xfrm>
            <a:off x="822960" y="3520440"/>
            <a:ext cx="10881360" cy="1005840"/>
          </a:xfrm>
          <a:prstGeom prst="rect">
            <a:avLst/>
          </a:prstGeom>
          <a:noFill/>
          <a:ln/>
        </p:spPr>
        <p:txBody>
          <a:bodyPr wrap="square" rtlCol="0" anchor="ctr"/>
          <a:lstStyle/>
          <a:p>
            <a:pPr marL="0" indent="0">
              <a:lnSpc>
                <a:spcPts val="1800"/>
              </a:lnSpc>
              <a:buNone/>
            </a:pPr>
            <a:r>
              <a:rPr lang="en-US" sz="1300" dirty="0">
                <a:solidFill>
                  <a:srgbClr val="3D4160"/>
                </a:solidFill>
                <a:latin typeface="Calibri" pitchFamily="34" charset="0"/>
                <a:ea typeface="Calibri" pitchFamily="34" charset="-122"/>
                <a:cs typeface="Calibri" pitchFamily="34" charset="-120"/>
              </a:rPr>
              <a:t>•  Finding: Proved that Quantum Neural Networks naturally overcome plasticity loss. Because quantum operations are constrained by unitary evolution (restricted to compact Lie group manifolds), parameter weights cannot explode. The circuit maintains its capacity to learn across the benchmarks tested.</a:t>
            </a:r>
            <a:endParaRPr lang="en-US" sz="1300" dirty="0"/>
          </a:p>
        </p:txBody>
      </p:sp>
      <p:sp>
        <p:nvSpPr>
          <p:cNvPr id="13" name="Shape 11"/>
          <p:cNvSpPr/>
          <p:nvPr/>
        </p:nvSpPr>
        <p:spPr>
          <a:xfrm>
            <a:off x="457200" y="4754880"/>
            <a:ext cx="11247120" cy="822960"/>
          </a:xfrm>
          <a:prstGeom prst="roundRect">
            <a:avLst>
              <a:gd name="adj" fmla="val 6667"/>
            </a:avLst>
          </a:prstGeom>
          <a:solidFill>
            <a:srgbClr val="EDEBFB"/>
          </a:solidFill>
          <a:ln w="12700">
            <a:solidFill>
              <a:srgbClr val="D6D2F5"/>
            </a:solidFill>
            <a:prstDash val="solid"/>
          </a:ln>
        </p:spPr>
      </p:sp>
      <p:sp>
        <p:nvSpPr>
          <p:cNvPr id="14" name="Text 12"/>
          <p:cNvSpPr/>
          <p:nvPr/>
        </p:nvSpPr>
        <p:spPr>
          <a:xfrm>
            <a:off x="685800" y="4864608"/>
            <a:ext cx="10789920" cy="603504"/>
          </a:xfrm>
          <a:prstGeom prst="rect">
            <a:avLst/>
          </a:prstGeom>
          <a:noFill/>
          <a:ln/>
        </p:spPr>
        <p:txBody>
          <a:bodyPr wrap="square" rtlCol="0" anchor="ctr"/>
          <a:lstStyle/>
          <a:p>
            <a:pPr marL="0" indent="0">
              <a:buNone/>
            </a:pPr>
            <a:r>
              <a:rPr lang="en-US" sz="1150" i="1" dirty="0">
                <a:solidFill>
                  <a:srgbClr val="3D4160"/>
                </a:solidFill>
                <a:latin typeface="Calibri" pitchFamily="34" charset="0"/>
                <a:ea typeface="Calibri" pitchFamily="34" charset="-122"/>
                <a:cs typeface="Calibri" pitchFamily="34" charset="-120"/>
              </a:rPr>
              <a:t>Minor precision note: “infinite/forever” is shorthand — the paper demonstrates this across tested benchmarks (up to thousands of sequential tasks), not as a mathematical guarantee for every possible architecture.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3.2 Literature Review: Forgetting &amp; Explainability</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5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Addressing Catastrophic Forgetting in Quantum Models</a:t>
            </a:r>
            <a:endParaRPr lang="en-US" sz="1500" dirty="0"/>
          </a:p>
        </p:txBody>
      </p:sp>
      <p:sp>
        <p:nvSpPr>
          <p:cNvPr id="9" name="Text 7"/>
          <p:cNvSpPr/>
          <p:nvPr/>
        </p:nvSpPr>
        <p:spPr>
          <a:xfrm>
            <a:off x="457200" y="1463040"/>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1 (Jiang et al., 2022): </a:t>
            </a:r>
            <a:r>
              <a:rPr lang="en-US" sz="1400" i="1" dirty="0">
                <a:solidFill>
                  <a:srgbClr val="1B1F3B"/>
                </a:solidFill>
                <a:latin typeface="Calibri" pitchFamily="34" charset="0"/>
                <a:ea typeface="Calibri" pitchFamily="34" charset="-122"/>
                <a:cs typeface="Calibri" pitchFamily="34" charset="-120"/>
              </a:rPr>
              <a:t>Quantum Continual Learning Overcoming Catastrophic Forgetting.</a:t>
            </a:r>
            <a:endParaRPr lang="en-US" sz="1400" dirty="0"/>
          </a:p>
        </p:txBody>
      </p:sp>
      <p:sp>
        <p:nvSpPr>
          <p:cNvPr id="10" name="Text 8"/>
          <p:cNvSpPr/>
          <p:nvPr/>
        </p:nvSpPr>
        <p:spPr>
          <a:xfrm>
            <a:off x="822960" y="1847088"/>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Adapted the classical Elastic Weight Consolidation (EWC) algorithm to quantum circuits, using statistical Fisher Information to freeze important gates.</a:t>
            </a:r>
            <a:endParaRPr lang="en-US" sz="1250" dirty="0"/>
          </a:p>
        </p:txBody>
      </p:sp>
      <p:sp>
        <p:nvSpPr>
          <p:cNvPr id="11" name="Text 9"/>
          <p:cNvSpPr/>
          <p:nvPr/>
        </p:nvSpPr>
        <p:spPr>
          <a:xfrm>
            <a:off x="457200" y="2761488"/>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2 (Zhang et al., 2024): </a:t>
            </a:r>
            <a:r>
              <a:rPr lang="en-US" sz="1400" i="1" dirty="0">
                <a:solidFill>
                  <a:srgbClr val="1B1F3B"/>
                </a:solidFill>
                <a:latin typeface="Calibri" pitchFamily="34" charset="0"/>
                <a:ea typeface="Calibri" pitchFamily="34" charset="-122"/>
                <a:cs typeface="Calibri" pitchFamily="34" charset="-120"/>
              </a:rPr>
              <a:t>Quantum continual learning on a programmable superconducting processor.</a:t>
            </a:r>
            <a:endParaRPr lang="en-US" sz="1400" dirty="0"/>
          </a:p>
        </p:txBody>
      </p:sp>
      <p:sp>
        <p:nvSpPr>
          <p:cNvPr id="12" name="Text 10"/>
          <p:cNvSpPr/>
          <p:nvPr/>
        </p:nvSpPr>
        <p:spPr>
          <a:xfrm>
            <a:off x="822960" y="3145536"/>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Successfully executed Quantum EWC on physical 18-qubit hardware (verified: 92.3% average accuracy across 3 tasks), proving theoretical models can be run on near-term noisy quantum devices.</a:t>
            </a:r>
            <a:endParaRPr lang="en-US" sz="1250" dirty="0"/>
          </a:p>
        </p:txBody>
      </p:sp>
      <p:sp>
        <p:nvSpPr>
          <p:cNvPr id="13" name="Text 11"/>
          <p:cNvSpPr/>
          <p:nvPr/>
        </p:nvSpPr>
        <p:spPr>
          <a:xfrm>
            <a:off x="457200" y="4059936"/>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3 (Jain): </a:t>
            </a:r>
            <a:r>
              <a:rPr lang="en-US" sz="1400" i="1" dirty="0">
                <a:solidFill>
                  <a:srgbClr val="1B1F3B"/>
                </a:solidFill>
                <a:latin typeface="Calibri" pitchFamily="34" charset="0"/>
                <a:ea typeface="Calibri" pitchFamily="34" charset="-122"/>
                <a:cs typeface="Calibri" pitchFamily="34" charset="-120"/>
              </a:rPr>
              <a:t>CQural: A Novel CNN based Hybrid Architecture.</a:t>
            </a:r>
            <a:endParaRPr lang="en-US" sz="1400" dirty="0"/>
          </a:p>
        </p:txBody>
      </p:sp>
      <p:sp>
        <p:nvSpPr>
          <p:cNvPr id="14" name="Text 12"/>
          <p:cNvSpPr/>
          <p:nvPr/>
        </p:nvSpPr>
        <p:spPr>
          <a:xfrm>
            <a:off x="822960" y="4443984"/>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Addressed the “black-box” nature of hybrid models using GradCAM. However, explainability was strictly bound to highlighting classical input pixels, not the internal quantum gates.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3.3 Literature Review: Optimization &amp; Geometry</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6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Mathematical Optimization in Deep Learning</a:t>
            </a:r>
            <a:endParaRPr lang="en-US" sz="1500" dirty="0"/>
          </a:p>
        </p:txBody>
      </p:sp>
      <p:sp>
        <p:nvSpPr>
          <p:cNvPr id="9" name="Text 7"/>
          <p:cNvSpPr/>
          <p:nvPr/>
        </p:nvSpPr>
        <p:spPr>
          <a:xfrm>
            <a:off x="457200" y="1463040"/>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6 (Aslam et al., 2025): </a:t>
            </a:r>
            <a:r>
              <a:rPr lang="en-US" sz="1400" i="1" dirty="0">
                <a:solidFill>
                  <a:srgbClr val="1B1F3B"/>
                </a:solidFill>
                <a:latin typeface="Calibri" pitchFamily="34" charset="0"/>
                <a:ea typeface="Calibri" pitchFamily="34" charset="-122"/>
                <a:cs typeface="Calibri" pitchFamily="34" charset="-120"/>
              </a:rPr>
              <a:t>Continual Learning Inspired by Brain Functionality.</a:t>
            </a:r>
            <a:endParaRPr lang="en-US" sz="1400" dirty="0"/>
          </a:p>
        </p:txBody>
      </p:sp>
      <p:sp>
        <p:nvSpPr>
          <p:cNvPr id="10" name="Text 8"/>
          <p:cNvSpPr/>
          <p:nvPr/>
        </p:nvSpPr>
        <p:spPr>
          <a:xfrm>
            <a:off x="822960" y="1847088"/>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Mapped biological brain functions to AI, concluding that hybrid models are required for optimal learning, though all tests were limited to unbounded classical geometries.</a:t>
            </a:r>
            <a:endParaRPr lang="en-US" sz="1250" dirty="0"/>
          </a:p>
        </p:txBody>
      </p:sp>
      <p:sp>
        <p:nvSpPr>
          <p:cNvPr id="11" name="Text 9"/>
          <p:cNvSpPr/>
          <p:nvPr/>
        </p:nvSpPr>
        <p:spPr>
          <a:xfrm>
            <a:off x="457200" y="2761488"/>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7 (Garg et al., 2026): </a:t>
            </a:r>
            <a:r>
              <a:rPr lang="en-US" sz="1400" i="1" dirty="0">
                <a:solidFill>
                  <a:srgbClr val="1B1F3B"/>
                </a:solidFill>
                <a:latin typeface="Calibri" pitchFamily="34" charset="0"/>
                <a:ea typeface="Calibri" pitchFamily="34" charset="-122"/>
                <a:cs typeface="Calibri" pitchFamily="34" charset="-120"/>
              </a:rPr>
              <a:t>Fisher-Orthogonal Projected Natural Gradient Descent.</a:t>
            </a:r>
            <a:endParaRPr lang="en-US" sz="1400" dirty="0"/>
          </a:p>
        </p:txBody>
      </p:sp>
      <p:sp>
        <p:nvSpPr>
          <p:cNvPr id="12" name="Text 10"/>
          <p:cNvSpPr/>
          <p:nvPr/>
        </p:nvSpPr>
        <p:spPr>
          <a:xfrm>
            <a:off x="822960" y="3145536"/>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Demonstrated that projecting parameter updates onto the Fisher-orthogonal complement minimizes interference, proving the importance of Riemannian geometry in learning.</a:t>
            </a:r>
            <a:endParaRPr lang="en-US" sz="1250" dirty="0"/>
          </a:p>
        </p:txBody>
      </p:sp>
      <p:sp>
        <p:nvSpPr>
          <p:cNvPr id="13" name="Text 11"/>
          <p:cNvSpPr/>
          <p:nvPr/>
        </p:nvSpPr>
        <p:spPr>
          <a:xfrm>
            <a:off x="457200" y="4059936"/>
            <a:ext cx="1124712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Paper 8 (Wierichs et al., 2020): </a:t>
            </a:r>
            <a:r>
              <a:rPr lang="en-US" sz="1400" i="1" dirty="0">
                <a:solidFill>
                  <a:srgbClr val="1B1F3B"/>
                </a:solidFill>
                <a:latin typeface="Calibri" pitchFamily="34" charset="0"/>
                <a:ea typeface="Calibri" pitchFamily="34" charset="-122"/>
                <a:cs typeface="Calibri" pitchFamily="34" charset="-120"/>
              </a:rPr>
              <a:t>Avoiding local minima in VQEs with the natural gradient optimizer.</a:t>
            </a:r>
            <a:endParaRPr lang="en-US" sz="1400" dirty="0"/>
          </a:p>
        </p:txBody>
      </p:sp>
      <p:sp>
        <p:nvSpPr>
          <p:cNvPr id="14" name="Text 12"/>
          <p:cNvSpPr/>
          <p:nvPr/>
        </p:nvSpPr>
        <p:spPr>
          <a:xfrm>
            <a:off x="822960" y="4443984"/>
            <a:ext cx="10881360" cy="777240"/>
          </a:xfrm>
          <a:prstGeom prst="rect">
            <a:avLst/>
          </a:prstGeom>
          <a:noFill/>
          <a:ln/>
        </p:spPr>
        <p:txBody>
          <a:bodyPr wrap="square" rtlCol="0" anchor="ctr"/>
          <a:lstStyle/>
          <a:p>
            <a:pPr marL="0" indent="0">
              <a:lnSpc>
                <a:spcPts val="1700"/>
              </a:lnSpc>
              <a:buNone/>
            </a:pPr>
            <a:r>
              <a:rPr lang="en-US" sz="1250" dirty="0">
                <a:solidFill>
                  <a:srgbClr val="3D4160"/>
                </a:solidFill>
                <a:latin typeface="Calibri" pitchFamily="34" charset="0"/>
                <a:ea typeface="Calibri" pitchFamily="34" charset="-122"/>
                <a:cs typeface="Calibri" pitchFamily="34" charset="-120"/>
              </a:rPr>
              <a:t>•  Finding: Proved that standard optimizers can fail in overparameterized quantum circuits; Natural Gradient (NatGrad) proved most resilient for navigating complex VQE landscapes.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4. Identification of Research Gaps</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7 / 14</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502920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10058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34329E"/>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Analyzed Literature</a:t>
                      </a:r>
                      <a:endParaRPr lang="en-US" sz="11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34329E"/>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Core Methodology</a:t>
                      </a:r>
                      <a:endParaRPr lang="en-US" sz="11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34329E"/>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Unaddressed Research Gap</a:t>
                      </a:r>
                      <a:endParaRPr lang="en-US" sz="11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34329E"/>
                    </a:solidFill>
                  </a:tcPr>
                </a:tc>
                <a:extLst>
                  <a:ext uri="{0D108BD9-81ED-4DB2-BD59-A6C34878D82A}">
                    <a16:rowId xmlns:a16="http://schemas.microsoft.com/office/drawing/2014/main" val="10000"/>
                  </a:ext>
                </a:extLst>
              </a:tr>
              <a:tr h="1005840">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Quantum Plasticity</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Papers 4, 5, 9</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Deep VQCs with SU(4) gates</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Proves quantum models can learn indefinitely, but explicitly leaves the forgetting problem unsolved.</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Quantum Memory</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Papers 1, 2</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Quantum EWC via statistical gradients</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Relies on “blind” rewards; incapable of prioritizing physical safety boundaries in dynamic environments.</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extLst>
                  <a:ext uri="{0D108BD9-81ED-4DB2-BD59-A6C34878D82A}">
                    <a16:rowId xmlns:a16="http://schemas.microsoft.com/office/drawing/2014/main" val="10002"/>
                  </a:ext>
                </a:extLst>
              </a:tr>
              <a:tr h="1005840">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Explainable AI (XAI)</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Paper 3</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GradCAM pixel mapping</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Explainability is bound to classical input pixels; cannot map the internal quantum synaptic memory.</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Classical Optimization</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Papers 6, 7, 8</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FOPNG Optimizer, NatGrad, &amp; Bio-models</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tc>
                  <a:txBody>
                    <a:bodyPr/>
                    <a:lstStyle/>
                    <a:p>
                      <a:pPr marL="0" indent="0">
                        <a:buNone/>
                      </a:pPr>
                      <a:r>
                        <a:rPr lang="en-US" sz="1050" dirty="0">
                          <a:solidFill>
                            <a:srgbClr val="1B1F3B"/>
                          </a:solidFill>
                          <a:latin typeface="Calibri" pitchFamily="34" charset="0"/>
                          <a:ea typeface="Calibri" pitchFamily="34" charset="-122"/>
                          <a:cs typeface="Calibri" pitchFamily="34" charset="-120"/>
                        </a:rPr>
                        <a:t>Confined to static landscapes or Euclidean spaces; completely omits continuous control loops (Safe-RL).</a:t>
                      </a:r>
                      <a:endParaRPr lang="en-US" sz="1050" dirty="0">
                        <a:latin typeface="Calibri" charset="0"/>
                        <a:ea typeface="Calibri" charset="0"/>
                        <a:cs typeface="Calibri" charset="0"/>
                      </a:endParaRPr>
                    </a:p>
                  </a:txBody>
                  <a:tcPr anchor="ctr">
                    <a:lnL w="9525" cap="flat" cmpd="sng" algn="ctr">
                      <a:solidFill>
                        <a:srgbClr val="D6D2F5"/>
                      </a:solidFill>
                      <a:prstDash val="solid"/>
                      <a:round/>
                      <a:headEnd type="none" w="med" len="med"/>
                      <a:tailEnd type="none" w="med" len="med"/>
                    </a:lnL>
                    <a:lnR w="9525" cap="flat" cmpd="sng" algn="ctr">
                      <a:solidFill>
                        <a:srgbClr val="D6D2F5"/>
                      </a:solidFill>
                      <a:prstDash val="solid"/>
                      <a:round/>
                      <a:headEnd type="none" w="med" len="med"/>
                      <a:tailEnd type="none" w="med" len="med"/>
                    </a:lnR>
                    <a:lnT w="9525" cap="flat" cmpd="sng" algn="ctr">
                      <a:solidFill>
                        <a:srgbClr val="D6D2F5"/>
                      </a:solidFill>
                      <a:prstDash val="solid"/>
                      <a:round/>
                      <a:headEnd type="none" w="med" len="med"/>
                      <a:tailEnd type="none" w="med" len="med"/>
                    </a:lnT>
                    <a:lnB w="9525" cap="flat" cmpd="sng" algn="ctr">
                      <a:solidFill>
                        <a:srgbClr val="D6D2F5"/>
                      </a:solidFill>
                      <a:prstDash val="solid"/>
                      <a:round/>
                      <a:headEnd type="none" w="med" len="med"/>
                      <a:tailEnd type="none" w="med" len="med"/>
                    </a:lnB>
                    <a:solidFill>
                      <a:srgbClr val="EDEBFB"/>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5. Part A: The Foundation (Quantum Plasticity)</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8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Inheriting the Base Paper's Architecture (Papers 4 &amp; 5)</a:t>
            </a:r>
            <a:endParaRPr lang="en-US" sz="1500" dirty="0"/>
          </a:p>
        </p:txBody>
      </p:sp>
      <p:sp>
        <p:nvSpPr>
          <p:cNvPr id="9" name="Text 7"/>
          <p:cNvSpPr/>
          <p:nvPr/>
        </p:nvSpPr>
        <p:spPr>
          <a:xfrm>
            <a:off x="457200" y="1417320"/>
            <a:ext cx="11247120" cy="54864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To ensure our agent has the capacity to learn indefinitely, we utilize the exact structural foundation proven by Chen &amp; Zhang (2026).</a:t>
            </a:r>
            <a:endParaRPr lang="en-US" sz="1400" dirty="0"/>
          </a:p>
        </p:txBody>
      </p:sp>
      <p:sp>
        <p:nvSpPr>
          <p:cNvPr id="10" name="Text 8"/>
          <p:cNvSpPr/>
          <p:nvPr/>
        </p:nvSpPr>
        <p:spPr>
          <a:xfrm>
            <a:off x="457200" y="2057400"/>
            <a:ext cx="11247120" cy="5029200"/>
          </a:xfrm>
          <a:prstGeom prst="rect">
            <a:avLst/>
          </a:prstGeom>
          <a:noFill/>
          <a:ln/>
        </p:spPr>
        <p:txBody>
          <a:bodyPr wrap="square" rtlCol="0" anchor="t"/>
          <a:lstStyle/>
          <a:p>
            <a:pPr marL="228600" indent="-228600">
              <a:lnSpc>
                <a:spcPct val="115000"/>
              </a:lnSpc>
              <a:spcAft>
                <a:spcPts val="1000"/>
              </a:spcAft>
              <a:buSzPct val="100000"/>
              <a:buChar char="•"/>
            </a:pPr>
            <a:r>
              <a:rPr lang="en-US" sz="1350" b="1" dirty="0">
                <a:solidFill>
                  <a:srgbClr val="1B1F3B"/>
                </a:solidFill>
                <a:latin typeface="Calibri" pitchFamily="34" charset="0"/>
                <a:ea typeface="Calibri" pitchFamily="34" charset="-122"/>
                <a:cs typeface="Calibri" pitchFamily="34" charset="-120"/>
              </a:rPr>
              <a:t>The Core:  </a:t>
            </a:r>
            <a:endParaRPr lang="en-US" sz="1350" dirty="0"/>
          </a:p>
          <a:p>
            <a:pPr marL="228600" indent="-228600">
              <a:lnSpc>
                <a:spcPct val="115000"/>
              </a:lnSpc>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A Deep Hardware-Efficient Ansatz (VQC).</a:t>
            </a:r>
            <a:endParaRPr lang="en-US" sz="1350" dirty="0"/>
          </a:p>
          <a:p>
            <a:pPr marL="228600" indent="-228600">
              <a:lnSpc>
                <a:spcPct val="115000"/>
              </a:lnSpc>
              <a:spcAft>
                <a:spcPts val="1000"/>
              </a:spcAft>
              <a:buSzPct val="100000"/>
              <a:buChar char="•"/>
            </a:pPr>
            <a:r>
              <a:rPr lang="en-US" sz="1350" b="1" dirty="0">
                <a:solidFill>
                  <a:srgbClr val="1B1F3B"/>
                </a:solidFill>
                <a:latin typeface="Calibri" pitchFamily="34" charset="0"/>
                <a:ea typeface="Calibri" pitchFamily="34" charset="-122"/>
                <a:cs typeface="Calibri" pitchFamily="34" charset="-120"/>
              </a:rPr>
              <a:t>The Mechanics:  </a:t>
            </a:r>
            <a:endParaRPr lang="en-US" sz="1350" dirty="0"/>
          </a:p>
          <a:p>
            <a:pPr marL="228600" indent="-228600">
              <a:lnSpc>
                <a:spcPct val="115000"/>
              </a:lnSpc>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Classical environment data is compressed and encoded into the quantum state via Angle Embedding (Ry gates).</a:t>
            </a:r>
            <a:endParaRPr lang="en-US" sz="1350" dirty="0"/>
          </a:p>
          <a:p>
            <a:pPr marL="228600" indent="-228600">
              <a:lnSpc>
                <a:spcPct val="115000"/>
              </a:lnSpc>
              <a:spcAft>
                <a:spcPts val="1000"/>
              </a:spcAft>
              <a:buSzPct val="100000"/>
              <a:buChar char="•"/>
            </a:pPr>
            <a:r>
              <a:rPr lang="en-US" sz="1350" b="1" dirty="0">
                <a:solidFill>
                  <a:srgbClr val="1B1F3B"/>
                </a:solidFill>
                <a:latin typeface="Calibri" pitchFamily="34" charset="0"/>
                <a:ea typeface="Calibri" pitchFamily="34" charset="-122"/>
                <a:cs typeface="Calibri" pitchFamily="34" charset="-120"/>
              </a:rPr>
              <a:t>The Advantage:  </a:t>
            </a:r>
            <a:endParaRPr lang="en-US" sz="1350" dirty="0"/>
          </a:p>
          <a:p>
            <a:pPr marL="228600" indent="-228600">
              <a:lnSpc>
                <a:spcPct val="115000"/>
              </a:lnSpc>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Because the Rx, Ry, Rz rotation gates evolve unitarily, this “brain” is structurally immune to the gradient decay that destroys classical networks.</a:t>
            </a:r>
            <a:endParaRPr lang="en-US" sz="1350" dirty="0"/>
          </a:p>
          <a:p>
            <a:pPr marL="228600" indent="-228600">
              <a:lnSpc>
                <a:spcPct val="115000"/>
              </a:lnSpc>
              <a:spcAft>
                <a:spcPts val="1000"/>
              </a:spcAft>
              <a:buSzPct val="100000"/>
              <a:buChar char="•"/>
            </a:pPr>
            <a:r>
              <a:rPr lang="en-US" sz="1350" b="1" dirty="0">
                <a:solidFill>
                  <a:srgbClr val="1B1F3B"/>
                </a:solidFill>
                <a:latin typeface="Calibri" pitchFamily="34" charset="0"/>
                <a:ea typeface="Calibri" pitchFamily="34" charset="-122"/>
                <a:cs typeface="Calibri" pitchFamily="34" charset="-120"/>
              </a:rPr>
              <a:t>The Fix Applied Here:  </a:t>
            </a:r>
            <a:endParaRPr lang="en-US" sz="1350" dirty="0"/>
          </a:p>
          <a:p>
            <a:pPr marL="228600" indent="-228600">
              <a:lnSpc>
                <a:spcPct val="115000"/>
              </a:lnSpc>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The classical encoder feeding the circuit must be a fixed, non-trainable compression step — not a deep trainable network — otherwise it reintroduces the exact unbounded-weight problem the quantum layer was meant to avoid.</a:t>
            </a:r>
            <a:endParaRPr lang="en-US" sz="1350" dirty="0"/>
          </a:p>
          <a:p>
            <a:pPr marL="228600" indent="-228600">
              <a:lnSpc>
                <a:spcPct val="115000"/>
              </a:lnSpc>
              <a:spcAft>
                <a:spcPts val="1000"/>
              </a:spcAft>
              <a:buSzPct val="100000"/>
              <a:buChar char="•"/>
            </a:pPr>
            <a:r>
              <a:rPr lang="en-US" sz="1350" b="1" dirty="0">
                <a:solidFill>
                  <a:srgbClr val="1B1F3B"/>
                </a:solidFill>
                <a:latin typeface="Calibri" pitchFamily="34" charset="0"/>
                <a:ea typeface="Calibri" pitchFamily="34" charset="-122"/>
                <a:cs typeface="Calibri" pitchFamily="34" charset="-120"/>
              </a:rPr>
              <a:t>The Flaw (still open):  </a:t>
            </a:r>
            <a:endParaRPr lang="en-US" sz="1350" dirty="0"/>
          </a:p>
          <a:p>
            <a:pPr marL="228600" indent="-228600">
              <a:lnSpc>
                <a:spcPct val="115000"/>
              </a:lnSpc>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While highly plastic, this architecture alone will still catastrophically forget physical boundaries when transitioning to new environments — solved in Part B.</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5.1 Part A: Foundation Architecture</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9 / 14</a:t>
            </a:r>
            <a:endParaRPr lang="en-US" sz="850" dirty="0"/>
          </a:p>
        </p:txBody>
      </p:sp>
      <p:sp>
        <p:nvSpPr>
          <p:cNvPr id="8" name="Text 6"/>
          <p:cNvSpPr/>
          <p:nvPr/>
        </p:nvSpPr>
        <p:spPr>
          <a:xfrm>
            <a:off x="457200" y="914400"/>
            <a:ext cx="11247120" cy="365760"/>
          </a:xfrm>
          <a:prstGeom prst="rect">
            <a:avLst/>
          </a:prstGeom>
          <a:noFill/>
          <a:ln/>
        </p:spPr>
        <p:txBody>
          <a:bodyPr wrap="square" rtlCol="0" anchor="ctr"/>
          <a:lstStyle/>
          <a:p>
            <a:pPr marL="0" indent="0" algn="ctr">
              <a:buNone/>
            </a:pPr>
            <a:r>
              <a:rPr lang="en-US" sz="1400" i="1" dirty="0">
                <a:solidFill>
                  <a:srgbClr val="3D4160"/>
                </a:solidFill>
                <a:latin typeface="Calibri" pitchFamily="34" charset="0"/>
                <a:ea typeface="Calibri" pitchFamily="34" charset="-122"/>
                <a:cs typeface="Calibri" pitchFamily="34" charset="-120"/>
              </a:rPr>
              <a:t>The “Plastic” Quantum Brain (Base Paper, with the fixed-encoder correction)</a:t>
            </a:r>
            <a:endParaRPr lang="en-US" sz="1400" dirty="0"/>
          </a:p>
        </p:txBody>
      </p:sp>
      <p:pic>
        <p:nvPicPr>
          <p:cNvPr id="9" name="Image 0" descr="/home/claude/qsynapse/diagram_part_a_v2.png"/>
          <p:cNvPicPr>
            <a:picLocks noChangeAspect="1"/>
          </p:cNvPicPr>
          <p:nvPr/>
        </p:nvPicPr>
        <p:blipFill>
          <a:blip r:embed="rId3"/>
          <a:stretch>
            <a:fillRect/>
          </a:stretch>
        </p:blipFill>
        <p:spPr>
          <a:xfrm>
            <a:off x="2880360" y="1305251"/>
            <a:ext cx="5185338" cy="49583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6. Part B: The Innovation (Physics-Informed Stability)</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10 / 14</a:t>
            </a:r>
            <a:endParaRPr lang="en-US" sz="850" dirty="0"/>
          </a:p>
        </p:txBody>
      </p:sp>
      <p:sp>
        <p:nvSpPr>
          <p:cNvPr id="8" name="Text 6"/>
          <p:cNvSpPr/>
          <p:nvPr/>
        </p:nvSpPr>
        <p:spPr>
          <a:xfrm>
            <a:off x="457200" y="960120"/>
            <a:ext cx="11247120" cy="365760"/>
          </a:xfrm>
          <a:prstGeom prst="rect">
            <a:avLst/>
          </a:prstGeom>
          <a:noFill/>
          <a:ln/>
        </p:spPr>
        <p:txBody>
          <a:bodyPr wrap="square" rtlCol="0" anchor="ctr"/>
          <a:lstStyle/>
          <a:p>
            <a:pPr marL="0" indent="0">
              <a:buNone/>
            </a:pPr>
            <a:r>
              <a:rPr lang="en-US" sz="1500" b="1" dirty="0">
                <a:solidFill>
                  <a:srgbClr val="34329E"/>
                </a:solidFill>
                <a:latin typeface="Calibri" pitchFamily="34" charset="0"/>
                <a:ea typeface="Calibri" pitchFamily="34" charset="-122"/>
                <a:cs typeface="Calibri" pitchFamily="34" charset="-120"/>
              </a:rPr>
              <a:t>The S-FIM Stability Lock</a:t>
            </a:r>
            <a:endParaRPr lang="en-US" sz="1500" dirty="0"/>
          </a:p>
        </p:txBody>
      </p:sp>
      <p:sp>
        <p:nvSpPr>
          <p:cNvPr id="9" name="Text 7"/>
          <p:cNvSpPr/>
          <p:nvPr/>
        </p:nvSpPr>
        <p:spPr>
          <a:xfrm>
            <a:off x="457200" y="1417320"/>
            <a:ext cx="11247120" cy="54864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To solve the forgetting problem without losing plasticity, we introduce a novel, physics-aware mathematical constraint to the optimization loop.</a:t>
            </a:r>
            <a:endParaRPr lang="en-US" sz="1400" dirty="0"/>
          </a:p>
        </p:txBody>
      </p:sp>
      <p:sp>
        <p:nvSpPr>
          <p:cNvPr id="10" name="Text 8"/>
          <p:cNvSpPr/>
          <p:nvPr/>
        </p:nvSpPr>
        <p:spPr>
          <a:xfrm>
            <a:off x="457200" y="2057400"/>
            <a:ext cx="11247120" cy="5029200"/>
          </a:xfrm>
          <a:prstGeom prst="rect">
            <a:avLst/>
          </a:prstGeom>
          <a:noFill/>
          <a:ln/>
        </p:spPr>
        <p:txBody>
          <a:bodyPr wrap="square" rtlCol="0" anchor="t"/>
          <a:lstStyle/>
          <a:p>
            <a:pPr marL="228600" indent="-228600">
              <a:lnSpc>
                <a:spcPct val="115000"/>
              </a:lnSpc>
              <a:spcAft>
                <a:spcPts val="1000"/>
              </a:spcAft>
              <a:buSzPct val="100000"/>
              <a:buChar char="•"/>
            </a:pPr>
            <a:r>
              <a:rPr lang="en-US" sz="1400" b="1" dirty="0">
                <a:solidFill>
                  <a:srgbClr val="1B1F3B"/>
                </a:solidFill>
                <a:latin typeface="Calibri" pitchFamily="34" charset="0"/>
                <a:ea typeface="Calibri" pitchFamily="34" charset="-122"/>
                <a:cs typeface="Calibri" pitchFamily="34" charset="-120"/>
              </a:rPr>
              <a:t>Physical Cost Engine:  </a:t>
            </a:r>
            <a:endParaRPr lang="en-US" sz="1400" dirty="0"/>
          </a:p>
          <a:p>
            <a:pPr marL="228600" indent="-228600">
              <a:lnSpc>
                <a:spcPct val="115000"/>
              </a:lnSpc>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We define a penalty function C(s, a) based on Euclidean distance to environmental hazards (e.g., walls).</a:t>
            </a:r>
            <a:endParaRPr lang="en-US" sz="1400" dirty="0"/>
          </a:p>
          <a:p>
            <a:pPr marL="228600" indent="-228600">
              <a:lnSpc>
                <a:spcPct val="115000"/>
              </a:lnSpc>
              <a:spcAft>
                <a:spcPts val="1000"/>
              </a:spcAft>
              <a:buSzPct val="100000"/>
              <a:buChar char="•"/>
            </a:pPr>
            <a:r>
              <a:rPr lang="en-US" sz="1400" b="1" dirty="0">
                <a:solidFill>
                  <a:srgbClr val="1B1F3B"/>
                </a:solidFill>
                <a:latin typeface="Calibri" pitchFamily="34" charset="0"/>
                <a:ea typeface="Calibri" pitchFamily="34" charset="-122"/>
                <a:cs typeface="Calibri" pitchFamily="34" charset="-120"/>
              </a:rPr>
              <a:t>Safety-Weighted Fisher Information Matrix (S-FIM):  </a:t>
            </a:r>
            <a:endParaRPr lang="en-US" sz="1400" dirty="0"/>
          </a:p>
          <a:p>
            <a:pPr marL="228600" indent="-228600">
              <a:lnSpc>
                <a:spcPct val="115000"/>
              </a:lnSpc>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Using the quantum parameter-shift rule, we extract the gradients of the rotation gates explicitly against the physical cost function.</a:t>
            </a:r>
            <a:endParaRPr lang="en-US" sz="1400" dirty="0"/>
          </a:p>
          <a:p>
            <a:pPr marL="228600" indent="-228600">
              <a:lnSpc>
                <a:spcPct val="115000"/>
              </a:lnSpc>
              <a:spcAft>
                <a:spcPts val="1000"/>
              </a:spcAft>
              <a:buSzPct val="100000"/>
              <a:buChar char="•"/>
            </a:pPr>
            <a:r>
              <a:rPr lang="en-US" sz="1400" b="1" dirty="0">
                <a:solidFill>
                  <a:srgbClr val="1B1F3B"/>
                </a:solidFill>
                <a:latin typeface="Calibri" pitchFamily="34" charset="0"/>
                <a:ea typeface="Calibri" pitchFamily="34" charset="-122"/>
                <a:cs typeface="Calibri" pitchFamily="34" charset="-120"/>
              </a:rPr>
              <a:t>Selective Locking:  </a:t>
            </a:r>
            <a:endParaRPr lang="en-US" sz="1400" dirty="0"/>
          </a:p>
          <a:p>
            <a:pPr marL="228600" indent="-228600">
              <a:lnSpc>
                <a:spcPct val="115000"/>
              </a:lnSpc>
              <a:spcAft>
                <a:spcPts val="1000"/>
              </a:spcAft>
              <a:buSzPct val="100000"/>
              <a:buChar char="•"/>
            </a:pPr>
            <a:r>
              <a:rPr lang="en-US" sz="1400" dirty="0">
                <a:solidFill>
                  <a:srgbClr val="1B1F3B"/>
                </a:solidFill>
                <a:latin typeface="Calibri" pitchFamily="34" charset="0"/>
                <a:ea typeface="Calibri" pitchFamily="34" charset="-122"/>
                <a:cs typeface="Calibri" pitchFamily="34" charset="-120"/>
              </a:rPr>
              <a:t>We mathematically isolate exactly which rotation angles prevented the agent from crashing. We apply a heavy penalty to these specific gates, freezing them, while leaving all other gates plastic.</a:t>
            </a:r>
            <a:endParaRPr lang="en-US" sz="1400" dirty="0"/>
          </a:p>
        </p:txBody>
      </p:sp>
      <p:sp>
        <p:nvSpPr>
          <p:cNvPr id="11" name="Shape 9"/>
          <p:cNvSpPr/>
          <p:nvPr/>
        </p:nvSpPr>
        <p:spPr>
          <a:xfrm>
            <a:off x="457200" y="5120640"/>
            <a:ext cx="11247120" cy="914400"/>
          </a:xfrm>
          <a:prstGeom prst="roundRect">
            <a:avLst>
              <a:gd name="adj" fmla="val 6000"/>
            </a:avLst>
          </a:prstGeom>
          <a:solidFill>
            <a:srgbClr val="EDEBFB"/>
          </a:solidFill>
          <a:ln w="12700">
            <a:solidFill>
              <a:srgbClr val="D6D2F5"/>
            </a:solidFill>
            <a:prstDash val="solid"/>
          </a:ln>
        </p:spPr>
      </p:sp>
      <p:sp>
        <p:nvSpPr>
          <p:cNvPr id="12" name="Text 10"/>
          <p:cNvSpPr/>
          <p:nvPr/>
        </p:nvSpPr>
        <p:spPr>
          <a:xfrm>
            <a:off x="685800" y="5230368"/>
            <a:ext cx="10789920" cy="694944"/>
          </a:xfrm>
          <a:prstGeom prst="rect">
            <a:avLst/>
          </a:prstGeom>
          <a:noFill/>
          <a:ln/>
        </p:spPr>
        <p:txBody>
          <a:bodyPr wrap="square" rtlCol="0" anchor="ctr"/>
          <a:lstStyle/>
          <a:p>
            <a:pPr marL="0" indent="0">
              <a:buNone/>
            </a:pPr>
            <a:r>
              <a:rPr lang="en-US" sz="1200" i="1" dirty="0">
                <a:solidFill>
                  <a:srgbClr val="3D4160"/>
                </a:solidFill>
                <a:latin typeface="Calibri" pitchFamily="34" charset="0"/>
                <a:ea typeface="Calibri" pitchFamily="34" charset="-122"/>
                <a:cs typeface="Calibri" pitchFamily="34" charset="-120"/>
              </a:rPr>
              <a:t>Why this beats standard EWC (Papers 1, 2): reward-based importance can't tell “this gate scored a bonus” from “this gate prevented a collision.” S-FIM makes that distinction explicit.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6.1 Part B: Innovation Architecture</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11 / 14</a:t>
            </a:r>
            <a:endParaRPr lang="en-US" sz="850" dirty="0"/>
          </a:p>
        </p:txBody>
      </p:sp>
      <p:pic>
        <p:nvPicPr>
          <p:cNvPr id="8" name="Image 0" descr="/home/claude/qsynapse/diagram_part_b_v2.png"/>
          <p:cNvPicPr>
            <a:picLocks noChangeAspect="1"/>
          </p:cNvPicPr>
          <p:nvPr/>
        </p:nvPicPr>
        <p:blipFill>
          <a:blip r:embed="rId3"/>
          <a:stretch>
            <a:fillRect/>
          </a:stretch>
        </p:blipFill>
        <p:spPr>
          <a:xfrm>
            <a:off x="2651760" y="868680"/>
            <a:ext cx="6858000" cy="5394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7. Complete End-to-End Pipeline</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12 / 14</a:t>
            </a:r>
            <a:endParaRPr lang="en-US" sz="850" dirty="0"/>
          </a:p>
        </p:txBody>
      </p:sp>
      <p:pic>
        <p:nvPicPr>
          <p:cNvPr id="8" name="Image 0" descr="/home/claude/qsynapse/diagram_combined_v2.png"/>
          <p:cNvPicPr>
            <a:picLocks noChangeAspect="1"/>
          </p:cNvPicPr>
          <p:nvPr/>
        </p:nvPicPr>
        <p:blipFill>
          <a:blip r:embed="rId3"/>
          <a:stretch>
            <a:fillRect/>
          </a:stretch>
        </p:blipFill>
        <p:spPr>
          <a:xfrm>
            <a:off x="3076956" y="863111"/>
            <a:ext cx="6481112" cy="56108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34329E"/>
          </a:solidFill>
          <a:ln/>
        </p:spPr>
        <p:txBody>
          <a:bodyPr/>
          <a:lstStyle/>
          <a:p>
            <a:endParaRPr lang="en-IN" dirty="0"/>
          </a:p>
        </p:txBody>
      </p:sp>
      <p:sp>
        <p:nvSpPr>
          <p:cNvPr id="3" name="Text 1"/>
          <p:cNvSpPr/>
          <p:nvPr/>
        </p:nvSpPr>
        <p:spPr>
          <a:xfrm>
            <a:off x="457200" y="109728"/>
            <a:ext cx="11247120" cy="60350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8. Experimental Setup :</a:t>
            </a:r>
            <a:endParaRPr lang="en-US" sz="2400" dirty="0"/>
          </a:p>
        </p:txBody>
      </p:sp>
      <p:sp>
        <p:nvSpPr>
          <p:cNvPr id="4" name="Shape 2"/>
          <p:cNvSpPr/>
          <p:nvPr/>
        </p:nvSpPr>
        <p:spPr>
          <a:xfrm>
            <a:off x="0" y="6473952"/>
            <a:ext cx="12188952" cy="384048"/>
          </a:xfrm>
          <a:prstGeom prst="rect">
            <a:avLst/>
          </a:prstGeom>
          <a:solidFill>
            <a:srgbClr val="211F5C"/>
          </a:solidFill>
          <a:ln/>
        </p:spPr>
      </p:sp>
      <p:sp>
        <p:nvSpPr>
          <p:cNvPr id="5" name="Text 3"/>
          <p:cNvSpPr/>
          <p:nvPr/>
        </p:nvSpPr>
        <p:spPr>
          <a:xfrm>
            <a:off x="274320" y="6492240"/>
            <a:ext cx="8046720" cy="329184"/>
          </a:xfrm>
          <a:prstGeom prst="rect">
            <a:avLst/>
          </a:prstGeom>
          <a:noFill/>
          <a:ln/>
        </p:spPr>
        <p:txBody>
          <a:bodyPr wrap="square" rtlCol="0" anchor="ctr"/>
          <a:lstStyle/>
          <a:p>
            <a:pPr marL="0" indent="0">
              <a:buNone/>
            </a:pPr>
            <a:r>
              <a:rPr lang="en-US" sz="850"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850" dirty="0"/>
          </a:p>
        </p:txBody>
      </p:sp>
      <p:sp>
        <p:nvSpPr>
          <p:cNvPr id="6" name="Text 4"/>
          <p:cNvSpPr/>
          <p:nvPr/>
        </p:nvSpPr>
        <p:spPr>
          <a:xfrm>
            <a:off x="8503920" y="6492240"/>
            <a:ext cx="2194560" cy="329184"/>
          </a:xfrm>
          <a:prstGeom prst="rect">
            <a:avLst/>
          </a:prstGeom>
          <a:noFill/>
          <a:ln/>
        </p:spPr>
        <p:txBody>
          <a:bodyPr wrap="square" rtlCol="0" anchor="ctr"/>
          <a:lstStyle/>
          <a:p>
            <a:pPr marL="0" indent="0" algn="ctr">
              <a:buNone/>
            </a:pPr>
            <a:r>
              <a:rPr lang="en-US" sz="850" dirty="0">
                <a:solidFill>
                  <a:srgbClr val="C7C9F0"/>
                </a:solidFill>
                <a:latin typeface="Calibri" pitchFamily="34" charset="0"/>
                <a:ea typeface="Calibri" pitchFamily="34" charset="-122"/>
                <a:cs typeface="Calibri" pitchFamily="34" charset="-120"/>
              </a:rPr>
              <a:t>July 16, 2026</a:t>
            </a:r>
            <a:endParaRPr lang="en-US" sz="850" dirty="0"/>
          </a:p>
        </p:txBody>
      </p:sp>
      <p:sp>
        <p:nvSpPr>
          <p:cNvPr id="7" name="Text 5"/>
          <p:cNvSpPr/>
          <p:nvPr/>
        </p:nvSpPr>
        <p:spPr>
          <a:xfrm>
            <a:off x="10881360" y="6492240"/>
            <a:ext cx="1005840" cy="329184"/>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13 / 14</a:t>
            </a:r>
            <a:endParaRPr lang="en-US" sz="850" dirty="0"/>
          </a:p>
        </p:txBody>
      </p:sp>
      <p:sp>
        <p:nvSpPr>
          <p:cNvPr id="8" name="Text 6"/>
          <p:cNvSpPr/>
          <p:nvPr/>
        </p:nvSpPr>
        <p:spPr>
          <a:xfrm>
            <a:off x="66582" y="1091776"/>
            <a:ext cx="11247120" cy="365760"/>
          </a:xfrm>
          <a:prstGeom prst="rect">
            <a:avLst/>
          </a:prstGeom>
          <a:noFill/>
          <a:ln/>
        </p:spPr>
        <p:txBody>
          <a:bodyPr wrap="square" rtlCol="0" anchor="ctr"/>
          <a:lstStyle/>
          <a:p>
            <a:r>
              <a:rPr lang="en-IN" sz="2000" b="1" dirty="0"/>
              <a:t>Experimental Setup &amp; Tech Stack:</a:t>
            </a:r>
          </a:p>
        </p:txBody>
      </p:sp>
      <mc:AlternateContent xmlns:mc="http://schemas.openxmlformats.org/markup-compatibility/2006">
        <mc:Choice xmlns:a14="http://schemas.microsoft.com/office/drawing/2010/main" Requires="a14">
          <p:sp>
            <p:nvSpPr>
              <p:cNvPr id="9" name="Text 7"/>
              <p:cNvSpPr/>
              <p:nvPr/>
            </p:nvSpPr>
            <p:spPr>
              <a:xfrm>
                <a:off x="194717" y="1871501"/>
                <a:ext cx="15844865" cy="6351973"/>
              </a:xfrm>
              <a:prstGeom prst="rect">
                <a:avLst/>
              </a:prstGeom>
              <a:noFill/>
              <a:ln/>
            </p:spPr>
            <p:txBody>
              <a:bodyPr wrap="square" rtlCol="0" anchor="t"/>
              <a:lstStyle/>
              <a:p>
                <a:endParaRPr lang="en-IN" b="1" dirty="0"/>
              </a:p>
              <a:p>
                <a:endParaRPr lang="en-IN" b="1" dirty="0"/>
              </a:p>
              <a:p>
                <a:r>
                  <a:rPr lang="en-IN" b="1" dirty="0" err="1"/>
                  <a:t>TensorCircuit</a:t>
                </a:r>
                <a:r>
                  <a:rPr lang="en-IN" b="1" dirty="0"/>
                  <a:t>-NG:</a:t>
                </a:r>
                <a:r>
                  <a:rPr lang="en-IN" dirty="0"/>
                  <a:t> The theoretical baseline from our foundational literature, used to prove the initial quantum plasticity math. </a:t>
                </a:r>
              </a:p>
              <a:p>
                <a:endParaRPr lang="en-IN" dirty="0"/>
              </a:p>
              <a:p>
                <a:r>
                  <a:rPr lang="en-IN" b="1" dirty="0"/>
                  <a:t>PennyLane + </a:t>
                </a:r>
                <a:r>
                  <a:rPr lang="en-IN" b="1" dirty="0" err="1"/>
                  <a:t>PyTorch</a:t>
                </a:r>
                <a:r>
                  <a:rPr lang="en-IN" b="1" dirty="0"/>
                  <a:t>:</a:t>
                </a:r>
                <a:r>
                  <a:rPr lang="en-IN" dirty="0"/>
                  <a:t> Our active execution engine, seamlessly bridging quantum auto-differentiation </a:t>
                </a:r>
              </a:p>
              <a:p>
                <a:r>
                  <a:rPr lang="en-IN" dirty="0"/>
                  <a:t>                                         with the classical RL training loop. </a:t>
                </a:r>
              </a:p>
              <a:p>
                <a:endParaRPr lang="en-IN" dirty="0"/>
              </a:p>
              <a:p>
                <a:r>
                  <a:rPr lang="en-IN" b="1" dirty="0" err="1"/>
                  <a:t>Qiskit</a:t>
                </a:r>
                <a:r>
                  <a:rPr lang="en-IN" b="1" dirty="0"/>
                  <a:t>:</a:t>
                </a:r>
                <a:r>
                  <a:rPr lang="en-IN" dirty="0"/>
                  <a:t> The hardware deployment bridge, allowing us to send our simulated circuits directly to real IBM Quantum processors.</a:t>
                </a:r>
              </a:p>
              <a:p>
                <a:r>
                  <a:rPr lang="en-IN" dirty="0"/>
                  <a:t> </a:t>
                </a:r>
              </a:p>
              <a:p>
                <a:r>
                  <a:rPr lang="en-IN" b="1" dirty="0"/>
                  <a:t>Quantum State:</a:t>
                </a:r>
                <a:r>
                  <a:rPr lang="en-IN" dirty="0"/>
                  <a:t> </a:t>
                </a:r>
                <a14:m>
                  <m:oMath xmlns:m="http://schemas.openxmlformats.org/officeDocument/2006/math">
                    <m:r>
                      <a:rPr lang="en-IN" i="1"/>
                      <m:t>𝑁</m:t>
                    </m:r>
                    <m:r>
                      <a:rPr lang="en-IN"/>
                      <m:t>=4</m:t>
                    </m:r>
                    <m:r>
                      <a:rPr lang="en-IN" b="0" i="0" smtClean="0">
                        <a:latin typeface="Cambria Math" panose="02040503050406030204" pitchFamily="18" charset="0"/>
                      </a:rPr>
                      <m:t> </m:t>
                    </m:r>
                  </m:oMath>
                </a14:m>
                <a:r>
                  <a:rPr lang="en-IN" dirty="0"/>
                  <a:t>Qubits encoding continuous control navigation for a dynamic grid-world environment. </a:t>
                </a:r>
              </a:p>
              <a:p>
                <a:endParaRPr lang="en-IN" dirty="0"/>
              </a:p>
            </p:txBody>
          </p:sp>
        </mc:Choice>
        <mc:Fallback>
          <p:sp>
            <p:nvSpPr>
              <p:cNvPr id="9" name="Text 7"/>
              <p:cNvSpPr>
                <a:spLocks noRot="1" noChangeAspect="1" noMove="1" noResize="1" noEditPoints="1" noAdjustHandles="1" noChangeArrowheads="1" noChangeShapeType="1" noTextEdit="1"/>
              </p:cNvSpPr>
              <p:nvPr/>
            </p:nvSpPr>
            <p:spPr>
              <a:xfrm>
                <a:off x="194717" y="1871501"/>
                <a:ext cx="15844865" cy="6351973"/>
              </a:xfrm>
              <a:prstGeom prst="rect">
                <a:avLst/>
              </a:prstGeom>
              <a:blipFill>
                <a:blip r:embed="rId3"/>
                <a:stretch>
                  <a:fillRect l="-346"/>
                </a:stretch>
              </a:blipFill>
              <a:ln/>
            </p:spPr>
            <p:txBody>
              <a:bodyPr/>
              <a:lstStyle/>
              <a:p>
                <a:r>
                  <a:rPr lang="en-IN">
                    <a:noFill/>
                  </a:rPr>
                  <a:t> </a:t>
                </a:r>
              </a:p>
            </p:txBody>
          </p:sp>
        </mc:Fallback>
      </mc:AlternateContent>
      <p:sp>
        <p:nvSpPr>
          <p:cNvPr id="10" name="Text 8"/>
          <p:cNvSpPr/>
          <p:nvPr/>
        </p:nvSpPr>
        <p:spPr>
          <a:xfrm>
            <a:off x="487680" y="5340096"/>
            <a:ext cx="11125200" cy="192024"/>
          </a:xfrm>
          <a:prstGeom prst="rect">
            <a:avLst/>
          </a:prstGeom>
          <a:noFill/>
          <a:ln/>
        </p:spPr>
        <p:txBody>
          <a:bodyPr wrap="square" rtlCol="0" anchor="ctr"/>
          <a:lstStyle/>
          <a:p>
            <a:pPr marL="0" indent="0">
              <a:buNone/>
            </a:pPr>
            <a:endParaRPr lang="en-US" sz="1500" dirty="0"/>
          </a:p>
        </p:txBody>
      </p:sp>
      <p:sp>
        <p:nvSpPr>
          <p:cNvPr id="12" name="Text 10"/>
          <p:cNvSpPr/>
          <p:nvPr/>
        </p:nvSpPr>
        <p:spPr>
          <a:xfrm>
            <a:off x="457200" y="3474720"/>
            <a:ext cx="292608" cy="292608"/>
          </a:xfrm>
          <a:prstGeom prst="rect">
            <a:avLst/>
          </a:prstGeom>
          <a:noFill/>
          <a:ln/>
        </p:spPr>
        <p:txBody>
          <a:bodyPr wrap="square" rtlCol="0" anchor="ctr"/>
          <a:lstStyle/>
          <a:p>
            <a:pPr marL="0" indent="0" algn="ctr">
              <a:buNone/>
            </a:pPr>
            <a:endParaRPr lang="en-US" sz="1300" dirty="0"/>
          </a:p>
        </p:txBody>
      </p:sp>
      <p:sp>
        <p:nvSpPr>
          <p:cNvPr id="13" name="Text 11"/>
          <p:cNvSpPr/>
          <p:nvPr/>
        </p:nvSpPr>
        <p:spPr>
          <a:xfrm>
            <a:off x="914400" y="3401568"/>
            <a:ext cx="10698480" cy="548640"/>
          </a:xfrm>
          <a:prstGeom prst="rect">
            <a:avLst/>
          </a:prstGeom>
          <a:noFill/>
          <a:ln/>
        </p:spPr>
        <p:txBody>
          <a:bodyPr wrap="square" rtlCol="0" anchor="ctr"/>
          <a:lstStyle/>
          <a:p>
            <a:pPr marL="0" indent="0">
              <a:buNone/>
            </a:pPr>
            <a:endParaRPr lang="en-US" sz="1350" dirty="0"/>
          </a:p>
        </p:txBody>
      </p:sp>
      <p:sp>
        <p:nvSpPr>
          <p:cNvPr id="15" name="Text 13"/>
          <p:cNvSpPr/>
          <p:nvPr/>
        </p:nvSpPr>
        <p:spPr>
          <a:xfrm>
            <a:off x="457200" y="4160520"/>
            <a:ext cx="292608" cy="292608"/>
          </a:xfrm>
          <a:prstGeom prst="rect">
            <a:avLst/>
          </a:prstGeom>
          <a:noFill/>
          <a:ln/>
        </p:spPr>
        <p:txBody>
          <a:bodyPr wrap="square" rtlCol="0" anchor="ctr"/>
          <a:lstStyle/>
          <a:p>
            <a:pPr marL="0" indent="0" algn="ctr">
              <a:buNone/>
            </a:pPr>
            <a:endParaRPr lang="en-US" sz="1300" dirty="0"/>
          </a:p>
        </p:txBody>
      </p:sp>
      <p:sp>
        <p:nvSpPr>
          <p:cNvPr id="16" name="Text 14"/>
          <p:cNvSpPr/>
          <p:nvPr/>
        </p:nvSpPr>
        <p:spPr>
          <a:xfrm>
            <a:off x="914400" y="4087368"/>
            <a:ext cx="10698480" cy="548640"/>
          </a:xfrm>
          <a:prstGeom prst="rect">
            <a:avLst/>
          </a:prstGeom>
          <a:noFill/>
          <a:ln/>
        </p:spPr>
        <p:txBody>
          <a:bodyPr wrap="square" rtlCol="0" anchor="ctr"/>
          <a:lstStyle/>
          <a:p>
            <a:pPr marL="0" indent="0">
              <a:buNone/>
            </a:pPr>
            <a:endParaRPr lang="en-US" sz="1350" dirty="0"/>
          </a:p>
        </p:txBody>
      </p:sp>
      <p:sp>
        <p:nvSpPr>
          <p:cNvPr id="19" name="Text 17"/>
          <p:cNvSpPr/>
          <p:nvPr/>
        </p:nvSpPr>
        <p:spPr>
          <a:xfrm>
            <a:off x="914400" y="4773168"/>
            <a:ext cx="10698480" cy="548640"/>
          </a:xfrm>
          <a:prstGeom prst="rect">
            <a:avLst/>
          </a:prstGeom>
          <a:noFill/>
          <a:ln/>
        </p:spPr>
        <p:txBody>
          <a:bodyPr wrap="square" rtlCol="0" anchor="ctr"/>
          <a:lstStyle/>
          <a:p>
            <a:pPr marL="0" indent="0">
              <a:buNone/>
            </a:pP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4329E"/>
        </a:solidFill>
        <a:effectLst/>
      </p:bgPr>
    </p:bg>
    <p:spTree>
      <p:nvGrpSpPr>
        <p:cNvPr id="1" name=""/>
        <p:cNvGrpSpPr/>
        <p:nvPr/>
      </p:nvGrpSpPr>
      <p:grpSpPr>
        <a:xfrm>
          <a:off x="0" y="0"/>
          <a:ext cx="0" cy="0"/>
          <a:chOff x="0" y="0"/>
          <a:chExt cx="0" cy="0"/>
        </a:xfrm>
      </p:grpSpPr>
      <p:sp>
        <p:nvSpPr>
          <p:cNvPr id="2" name="Text 0"/>
          <p:cNvSpPr/>
          <p:nvPr/>
        </p:nvSpPr>
        <p:spPr>
          <a:xfrm>
            <a:off x="822960" y="2926080"/>
            <a:ext cx="10515600" cy="109728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822960" y="4206240"/>
            <a:ext cx="10515600" cy="457200"/>
          </a:xfrm>
          <a:prstGeom prst="rect">
            <a:avLst/>
          </a:prstGeom>
          <a:noFill/>
          <a:ln/>
        </p:spPr>
        <p:txBody>
          <a:bodyPr wrap="square" rtlCol="0" anchor="ctr"/>
          <a:lstStyle/>
          <a:p>
            <a:pPr marL="0" indent="0" algn="ctr">
              <a:buNone/>
            </a:pPr>
            <a:r>
              <a:rPr lang="en-US" sz="1300" i="1" dirty="0">
                <a:solidFill>
                  <a:srgbClr val="C7C9F0"/>
                </a:solidFill>
                <a:latin typeface="Calibri" pitchFamily="34" charset="0"/>
                <a:ea typeface="Calibri" pitchFamily="34" charset="-122"/>
                <a:cs typeface="Calibri" pitchFamily="34" charset="-120"/>
              </a:rPr>
              <a:t>Neuroplasticity in Continual Quantum Learning for the Stability-Plasticity Dilemma</a:t>
            </a:r>
            <a:endParaRPr lang="en-US" sz="1300" dirty="0"/>
          </a:p>
        </p:txBody>
      </p:sp>
      <p:sp>
        <p:nvSpPr>
          <p:cNvPr id="4" name="Text 2"/>
          <p:cNvSpPr/>
          <p:nvPr/>
        </p:nvSpPr>
        <p:spPr>
          <a:xfrm>
            <a:off x="822960" y="6309360"/>
            <a:ext cx="10515600" cy="320040"/>
          </a:xfrm>
          <a:prstGeom prst="rect">
            <a:avLst/>
          </a:prstGeom>
          <a:noFill/>
          <a:ln/>
        </p:spPr>
        <p:txBody>
          <a:bodyPr wrap="square" rtlCol="0" anchor="ctr"/>
          <a:lstStyle/>
          <a:p>
            <a:pPr marL="0" indent="0" algn="ctr">
              <a:buNone/>
            </a:pPr>
            <a:r>
              <a:rPr lang="en-US" sz="1100" dirty="0">
                <a:solidFill>
                  <a:srgbClr val="C7C9F0"/>
                </a:solidFill>
                <a:latin typeface="Calibri" pitchFamily="34" charset="0"/>
                <a:ea typeface="Calibri" pitchFamily="34" charset="-122"/>
                <a:cs typeface="Calibri" pitchFamily="34" charset="-120"/>
              </a:rPr>
              <a:t>July 16, 2026</a:t>
            </a:r>
            <a:endParaRPr lang="en-US" sz="1100" dirty="0"/>
          </a:p>
        </p:txBody>
      </p:sp>
      <p:sp>
        <p:nvSpPr>
          <p:cNvPr id="5" name="Text 3"/>
          <p:cNvSpPr/>
          <p:nvPr/>
        </p:nvSpPr>
        <p:spPr>
          <a:xfrm>
            <a:off x="10881360" y="6492240"/>
            <a:ext cx="1005840" cy="274320"/>
          </a:xfrm>
          <a:prstGeom prst="rect">
            <a:avLst/>
          </a:prstGeom>
          <a:noFill/>
          <a:ln/>
        </p:spPr>
        <p:txBody>
          <a:bodyPr wrap="square" rtlCol="0" anchor="ctr"/>
          <a:lstStyle/>
          <a:p>
            <a:pPr marL="0" indent="0" algn="r">
              <a:buNone/>
            </a:pPr>
            <a:r>
              <a:rPr lang="en-US" sz="850" dirty="0">
                <a:solidFill>
                  <a:srgbClr val="C7C9F0"/>
                </a:solidFill>
                <a:latin typeface="Calibri" pitchFamily="34" charset="0"/>
                <a:ea typeface="Calibri" pitchFamily="34" charset="-122"/>
                <a:cs typeface="Calibri" pitchFamily="34" charset="-120"/>
              </a:rPr>
              <a:t>14 / 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1592</Words>
  <Application>Microsoft Office PowerPoint</Application>
  <PresentationFormat>Widescreen</PresentationFormat>
  <Paragraphs>159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SANGEETH S</cp:lastModifiedBy>
  <cp:revision>2</cp:revision>
  <dcterms:created xsi:type="dcterms:W3CDTF">2026-07-17T00:26:48Z</dcterms:created>
  <dcterms:modified xsi:type="dcterms:W3CDTF">2026-07-17T03:23:57Z</dcterms:modified>
</cp:coreProperties>
</file>