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26"/>
        </a:solidFill>
        <a:effectLst/>
      </p:bgPr>
    </p:bg>
    <p:spTree>
      <p:nvGrpSpPr>
        <p:cNvPr id="1" name=""/>
        <p:cNvGrpSpPr/>
        <p:nvPr/>
      </p:nvGrpSpPr>
      <p:grpSpPr/>
      <p:sp>
        <p:nvSpPr>
          <p:cNvPr id="2" name="Oval 1"/>
          <p:cNvSpPr/>
          <p:nvPr/>
        </p:nvSpPr>
        <p:spPr>
          <a:xfrm>
            <a:off x="1051560" y="1783080"/>
            <a:ext cx="155448" cy="155448"/>
          </a:xfrm>
          <a:prstGeom prst="ellipse">
            <a:avLst/>
          </a:prstGeom>
          <a:solidFill>
            <a:srgbClr val="CF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783080"/>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331720"/>
            <a:ext cx="10058400" cy="1097280"/>
          </a:xfrm>
          <a:prstGeom prst="rect">
            <a:avLst/>
          </a:prstGeom>
          <a:noFill/>
        </p:spPr>
        <p:txBody>
          <a:bodyPr wrap="square" anchor="t" lIns="36576" rIns="36576" tIns="18288" bIns="18288">
            <a:spAutoFit/>
          </a:bodyPr>
          <a:lstStyle/>
          <a:p>
            <a:pPr algn="l">
              <a:spcAft>
                <a:spcPts val="600"/>
              </a:spcAft>
            </a:pPr>
            <a:r>
              <a:rPr sz="5400" b="1" i="0">
                <a:solidFill>
                  <a:srgbClr val="FFFFFF"/>
                </a:solidFill>
                <a:latin typeface="Cambria"/>
              </a:rPr>
              <a:t>Dual-Manifold ContextSync</a:t>
            </a:r>
          </a:p>
        </p:txBody>
      </p:sp>
      <p:sp>
        <p:nvSpPr>
          <p:cNvPr id="5" name="TextBox 4"/>
          <p:cNvSpPr txBox="1"/>
          <p:nvPr/>
        </p:nvSpPr>
        <p:spPr>
          <a:xfrm>
            <a:off x="1051560" y="3611880"/>
            <a:ext cx="9601200" cy="1097280"/>
          </a:xfrm>
          <a:prstGeom prst="rect">
            <a:avLst/>
          </a:prstGeom>
          <a:noFill/>
        </p:spPr>
        <p:txBody>
          <a:bodyPr wrap="square" anchor="t" lIns="36576" rIns="36576" tIns="18288" bIns="18288">
            <a:spAutoFit/>
          </a:bodyPr>
          <a:lstStyle/>
          <a:p>
            <a:pPr algn="l">
              <a:spcAft>
                <a:spcPts val="600"/>
              </a:spcAft>
            </a:pPr>
            <a:r>
              <a:rPr sz="2200" b="0" i="0">
                <a:solidFill>
                  <a:srgbClr val="D3E3E8"/>
                </a:solidFill>
                <a:latin typeface="Calibri"/>
              </a:rPr>
              <a:t>Keeping stability and plasticity together in long, multi-user chat threads with a classical memory and a 10-qubit circuit</a:t>
            </a:r>
          </a:p>
        </p:txBody>
      </p:sp>
      <p:sp>
        <p:nvSpPr>
          <p:cNvPr id="6" name="TextBox 5"/>
          <p:cNvSpPr txBox="1"/>
          <p:nvPr/>
        </p:nvSpPr>
        <p:spPr>
          <a:xfrm>
            <a:off x="1051560" y="5440680"/>
            <a:ext cx="10058400" cy="822960"/>
          </a:xfrm>
          <a:prstGeom prst="rect">
            <a:avLst/>
          </a:prstGeom>
          <a:noFill/>
        </p:spPr>
        <p:txBody>
          <a:bodyPr wrap="square" anchor="t" lIns="36576" rIns="36576" tIns="18288" bIns="18288">
            <a:spAutoFit/>
          </a:bodyPr>
          <a:lstStyle/>
          <a:p>
            <a:pPr algn="l">
              <a:spcAft>
                <a:spcPts val="600"/>
              </a:spcAft>
            </a:pPr>
            <a:r>
              <a:rPr sz="1400" b="0" i="0">
                <a:solidFill>
                  <a:srgbClr val="93A9B1"/>
                </a:solidFill>
                <a:latin typeface="Calibri"/>
              </a:rPr>
              <a:t>Project A_14 · Neuro-Plasticity</a:t>
            </a:r>
          </a:p>
          <a:p>
            <a:pPr algn="l">
              <a:spcAft>
                <a:spcPts val="600"/>
              </a:spcAft>
            </a:pPr>
            <a:r>
              <a:rPr sz="1400" b="0" i="0">
                <a:solidFill>
                  <a:srgbClr val="93A9B1"/>
                </a:solidFill>
                <a:latin typeface="Calibri"/>
              </a:rPr>
              <a:t>Python · PyTorch · PennyLane · Qiskit · FAISS · SQLite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What this deck covers</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From the problem to the results</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2</a:t>
            </a:r>
          </a:p>
        </p:txBody>
      </p:sp>
      <p:sp>
        <p:nvSpPr>
          <p:cNvPr id="7" name="TextBox 6"/>
          <p:cNvSpPr txBox="1"/>
          <p:nvPr/>
        </p:nvSpPr>
        <p:spPr>
          <a:xfrm>
            <a:off x="685800" y="2057400"/>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01</a:t>
            </a:r>
          </a:p>
        </p:txBody>
      </p:sp>
      <p:sp>
        <p:nvSpPr>
          <p:cNvPr id="8" name="TextBox 7"/>
          <p:cNvSpPr txBox="1"/>
          <p:nvPr/>
        </p:nvSpPr>
        <p:spPr>
          <a:xfrm>
            <a:off x="1463040" y="2039112"/>
            <a:ext cx="4663440" cy="36576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The problem</a:t>
            </a:r>
          </a:p>
        </p:txBody>
      </p:sp>
      <p:sp>
        <p:nvSpPr>
          <p:cNvPr id="9" name="TextBox 8"/>
          <p:cNvSpPr txBox="1"/>
          <p:nvPr/>
        </p:nvSpPr>
        <p:spPr>
          <a:xfrm>
            <a:off x="1463040" y="2423160"/>
            <a:ext cx="4663440" cy="45720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Why long shared chats are hard for a language model</a:t>
            </a:r>
          </a:p>
        </p:txBody>
      </p:sp>
      <p:sp>
        <p:nvSpPr>
          <p:cNvPr id="10" name="TextBox 9"/>
          <p:cNvSpPr txBox="1"/>
          <p:nvPr/>
        </p:nvSpPr>
        <p:spPr>
          <a:xfrm>
            <a:off x="6355080" y="2057400"/>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02</a:t>
            </a:r>
          </a:p>
        </p:txBody>
      </p:sp>
      <p:sp>
        <p:nvSpPr>
          <p:cNvPr id="11" name="TextBox 10"/>
          <p:cNvSpPr txBox="1"/>
          <p:nvPr/>
        </p:nvSpPr>
        <p:spPr>
          <a:xfrm>
            <a:off x="7132320" y="2039112"/>
            <a:ext cx="4663440" cy="36576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Background</a:t>
            </a:r>
          </a:p>
        </p:txBody>
      </p:sp>
      <p:sp>
        <p:nvSpPr>
          <p:cNvPr id="12" name="TextBox 11"/>
          <p:cNvSpPr txBox="1"/>
          <p:nvPr/>
        </p:nvSpPr>
        <p:spPr>
          <a:xfrm>
            <a:off x="7132320" y="2423160"/>
            <a:ext cx="4663440" cy="45720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What is already known and what is missing</a:t>
            </a:r>
          </a:p>
        </p:txBody>
      </p:sp>
      <p:sp>
        <p:nvSpPr>
          <p:cNvPr id="13" name="TextBox 12"/>
          <p:cNvSpPr txBox="1"/>
          <p:nvPr/>
        </p:nvSpPr>
        <p:spPr>
          <a:xfrm>
            <a:off x="685800" y="3081528"/>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03</a:t>
            </a:r>
          </a:p>
        </p:txBody>
      </p:sp>
      <p:sp>
        <p:nvSpPr>
          <p:cNvPr id="14" name="TextBox 13"/>
          <p:cNvSpPr txBox="1"/>
          <p:nvPr/>
        </p:nvSpPr>
        <p:spPr>
          <a:xfrm>
            <a:off x="1463040" y="3063240"/>
            <a:ext cx="4663440" cy="36576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Design</a:t>
            </a:r>
          </a:p>
        </p:txBody>
      </p:sp>
      <p:sp>
        <p:nvSpPr>
          <p:cNvPr id="15" name="TextBox 14"/>
          <p:cNvSpPr txBox="1"/>
          <p:nvPr/>
        </p:nvSpPr>
        <p:spPr>
          <a:xfrm>
            <a:off x="1463040" y="3447288"/>
            <a:ext cx="4663440" cy="45720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The memory, the circuit and how they connect</a:t>
            </a:r>
          </a:p>
        </p:txBody>
      </p:sp>
      <p:sp>
        <p:nvSpPr>
          <p:cNvPr id="16" name="TextBox 15"/>
          <p:cNvSpPr txBox="1"/>
          <p:nvPr/>
        </p:nvSpPr>
        <p:spPr>
          <a:xfrm>
            <a:off x="6355080" y="3081528"/>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04</a:t>
            </a:r>
          </a:p>
        </p:txBody>
      </p:sp>
      <p:sp>
        <p:nvSpPr>
          <p:cNvPr id="17" name="TextBox 16"/>
          <p:cNvSpPr txBox="1"/>
          <p:nvPr/>
        </p:nvSpPr>
        <p:spPr>
          <a:xfrm>
            <a:off x="7132320" y="3063240"/>
            <a:ext cx="4663440" cy="36576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Data and build</a:t>
            </a:r>
          </a:p>
        </p:txBody>
      </p:sp>
      <p:sp>
        <p:nvSpPr>
          <p:cNvPr id="18" name="TextBox 17"/>
          <p:cNvSpPr txBox="1"/>
          <p:nvPr/>
        </p:nvSpPr>
        <p:spPr>
          <a:xfrm>
            <a:off x="7132320" y="3447288"/>
            <a:ext cx="4663440" cy="45720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The dataset and the ten build phases</a:t>
            </a:r>
          </a:p>
        </p:txBody>
      </p:sp>
      <p:sp>
        <p:nvSpPr>
          <p:cNvPr id="19" name="TextBox 18"/>
          <p:cNvSpPr txBox="1"/>
          <p:nvPr/>
        </p:nvSpPr>
        <p:spPr>
          <a:xfrm>
            <a:off x="685800" y="4105656"/>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05</a:t>
            </a:r>
          </a:p>
        </p:txBody>
      </p:sp>
      <p:sp>
        <p:nvSpPr>
          <p:cNvPr id="20" name="TextBox 19"/>
          <p:cNvSpPr txBox="1"/>
          <p:nvPr/>
        </p:nvSpPr>
        <p:spPr>
          <a:xfrm>
            <a:off x="1463040" y="4087368"/>
            <a:ext cx="4663440" cy="36576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What we changed</a:t>
            </a:r>
          </a:p>
        </p:txBody>
      </p:sp>
      <p:sp>
        <p:nvSpPr>
          <p:cNvPr id="21" name="TextBox 20"/>
          <p:cNvSpPr txBox="1"/>
          <p:nvPr/>
        </p:nvSpPr>
        <p:spPr>
          <a:xfrm>
            <a:off x="1463040" y="4471416"/>
            <a:ext cx="4663440" cy="45720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Reading out every qubit instead of one</a:t>
            </a:r>
          </a:p>
        </p:txBody>
      </p:sp>
      <p:sp>
        <p:nvSpPr>
          <p:cNvPr id="22" name="TextBox 21"/>
          <p:cNvSpPr txBox="1"/>
          <p:nvPr/>
        </p:nvSpPr>
        <p:spPr>
          <a:xfrm>
            <a:off x="6355080" y="4105656"/>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06</a:t>
            </a:r>
          </a:p>
        </p:txBody>
      </p:sp>
      <p:sp>
        <p:nvSpPr>
          <p:cNvPr id="23" name="TextBox 22"/>
          <p:cNvSpPr txBox="1"/>
          <p:nvPr/>
        </p:nvSpPr>
        <p:spPr>
          <a:xfrm>
            <a:off x="7132320" y="4087368"/>
            <a:ext cx="4663440" cy="36576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Results</a:t>
            </a:r>
          </a:p>
        </p:txBody>
      </p:sp>
      <p:sp>
        <p:nvSpPr>
          <p:cNvPr id="24" name="TextBox 23"/>
          <p:cNvSpPr txBox="1"/>
          <p:nvPr/>
        </p:nvSpPr>
        <p:spPr>
          <a:xfrm>
            <a:off x="7132320" y="4471416"/>
            <a:ext cx="4663440" cy="45720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Remembering, learning, and both together</a:t>
            </a:r>
          </a:p>
        </p:txBody>
      </p:sp>
      <p:sp>
        <p:nvSpPr>
          <p:cNvPr id="25" name="TextBox 24"/>
          <p:cNvSpPr txBox="1"/>
          <p:nvPr/>
        </p:nvSpPr>
        <p:spPr>
          <a:xfrm>
            <a:off x="685800" y="5129784"/>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07</a:t>
            </a:r>
          </a:p>
        </p:txBody>
      </p:sp>
      <p:sp>
        <p:nvSpPr>
          <p:cNvPr id="26" name="TextBox 25"/>
          <p:cNvSpPr txBox="1"/>
          <p:nvPr/>
        </p:nvSpPr>
        <p:spPr>
          <a:xfrm>
            <a:off x="1463040" y="5111496"/>
            <a:ext cx="4663440" cy="36576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Limits and next steps</a:t>
            </a:r>
          </a:p>
        </p:txBody>
      </p:sp>
      <p:sp>
        <p:nvSpPr>
          <p:cNvPr id="27" name="TextBox 26"/>
          <p:cNvSpPr txBox="1"/>
          <p:nvPr/>
        </p:nvSpPr>
        <p:spPr>
          <a:xfrm>
            <a:off x="1463040" y="5495544"/>
            <a:ext cx="4663440" cy="45720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What is still open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The problem</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Why a long shared chat is hard for a language model</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3</a:t>
            </a:r>
          </a:p>
        </p:txBody>
      </p:sp>
      <p:sp>
        <p:nvSpPr>
          <p:cNvPr id="7" name="Rounded Rectangle 6"/>
          <p:cNvSpPr/>
          <p:nvPr/>
        </p:nvSpPr>
        <p:spPr>
          <a:xfrm>
            <a:off x="502920" y="1920240"/>
            <a:ext cx="6309360" cy="4114800"/>
          </a:xfrm>
          <a:prstGeom prst="roundRect">
            <a:avLst>
              <a:gd name="adj" fmla="val 3500"/>
            </a:avLst>
          </a:prstGeom>
          <a:solidFill>
            <a:srgbClr val="EFF5F7"/>
          </a:solidFill>
          <a:ln w="1270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5760720" cy="457200"/>
          </a:xfrm>
          <a:prstGeom prst="rect">
            <a:avLst/>
          </a:prstGeom>
          <a:noFill/>
        </p:spPr>
        <p:txBody>
          <a:bodyPr wrap="square" anchor="t" lIns="36576" rIns="36576" tIns="18288" bIns="18288">
            <a:spAutoFit/>
          </a:bodyPr>
          <a:lstStyle/>
          <a:p>
            <a:pPr algn="l">
              <a:spcAft>
                <a:spcPts val="600"/>
              </a:spcAft>
            </a:pPr>
            <a:r>
              <a:rPr sz="2000" b="1" i="0">
                <a:solidFill>
                  <a:srgbClr val="0B5C73"/>
                </a:solidFill>
                <a:latin typeface="Cambria"/>
              </a:rPr>
              <a:t>Two things a model has to do at once</a:t>
            </a:r>
          </a:p>
        </p:txBody>
      </p:sp>
      <p:sp>
        <p:nvSpPr>
          <p:cNvPr id="9" name="TextBox 8"/>
          <p:cNvSpPr txBox="1"/>
          <p:nvPr/>
        </p:nvSpPr>
        <p:spPr>
          <a:xfrm>
            <a:off x="777240" y="2697480"/>
            <a:ext cx="5760720" cy="3291840"/>
          </a:xfrm>
          <a:prstGeom prst="rect">
            <a:avLst/>
          </a:prstGeom>
          <a:noFill/>
        </p:spPr>
        <p:txBody>
          <a:bodyPr wrap="square" anchor="t" lIns="36576" rIns="36576" tIns="18288" bIns="18288">
            <a:spAutoFit/>
          </a:bodyPr>
          <a:lstStyle/>
          <a:p>
            <a:pPr algn="l">
              <a:spcAft>
                <a:spcPts val="1000"/>
              </a:spcAft>
            </a:pPr>
            <a:r>
              <a:rPr sz="1650" b="0" i="0">
                <a:solidFill>
                  <a:srgbClr val="14191D"/>
                </a:solidFill>
                <a:latin typeface="Calibri"/>
              </a:rPr>
              <a:t>Stability means keeping what was learned earlier.</a:t>
            </a:r>
          </a:p>
          <a:p>
            <a:pPr algn="l">
              <a:spcAft>
                <a:spcPts val="1000"/>
              </a:spcAft>
            </a:pPr>
            <a:r>
              <a:rPr sz="1650" b="0" i="0">
                <a:solidFill>
                  <a:srgbClr val="14191D"/>
                </a:solidFill>
                <a:latin typeface="Calibri"/>
              </a:rPr>
              <a:t>Plasticity means being able to learn new or changed information.</a:t>
            </a:r>
          </a:p>
          <a:p>
            <a:pPr algn="l">
              <a:spcAft>
                <a:spcPts val="1000"/>
              </a:spcAft>
            </a:pPr>
            <a:r>
              <a:rPr sz="1650" b="0" i="0">
                <a:solidFill>
                  <a:srgbClr val="14191D"/>
                </a:solidFill>
                <a:latin typeface="Calibri"/>
              </a:rPr>
              <a:t>In an ordinary network both live in the same weights, so they compete. If the weights are held still, the model cannot adapt. If they move freely, older knowledge is overwritten.</a:t>
            </a:r>
          </a:p>
          <a:p>
            <a:pPr algn="l">
              <a:spcAft>
                <a:spcPts val="1000"/>
              </a:spcAft>
            </a:pPr>
            <a:r>
              <a:rPr sz="1650" b="0" i="0">
                <a:solidFill>
                  <a:srgbClr val="14191D"/>
                </a:solidFill>
                <a:latin typeface="Calibri"/>
              </a:rPr>
              <a:t>This is the stability-plasticity dilemma.</a:t>
            </a:r>
          </a:p>
        </p:txBody>
      </p:sp>
      <p:sp>
        <p:nvSpPr>
          <p:cNvPr id="10" name="Rounded Rectangle 9"/>
          <p:cNvSpPr/>
          <p:nvPr/>
        </p:nvSpPr>
        <p:spPr>
          <a:xfrm>
            <a:off x="7086600" y="1920240"/>
            <a:ext cx="4572000" cy="1261872"/>
          </a:xfrm>
          <a:prstGeom prst="roundRect">
            <a:avLst>
              <a:gd name="adj" fmla="val 3500"/>
            </a:avLst>
          </a:prstGeom>
          <a:solidFill>
            <a:srgbClr val="FFFFFF"/>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269480" y="2103120"/>
            <a:ext cx="1463040" cy="822960"/>
          </a:xfrm>
          <a:prstGeom prst="rect">
            <a:avLst/>
          </a:prstGeom>
          <a:noFill/>
        </p:spPr>
        <p:txBody>
          <a:bodyPr wrap="square" anchor="ctr" lIns="36576" rIns="36576" tIns="18288" bIns="18288">
            <a:spAutoFit/>
          </a:bodyPr>
          <a:lstStyle/>
          <a:p>
            <a:pPr algn="l">
              <a:spcAft>
                <a:spcPts val="600"/>
              </a:spcAft>
            </a:pPr>
            <a:r>
              <a:rPr sz="3600" b="1" i="0">
                <a:solidFill>
                  <a:srgbClr val="A3226A"/>
                </a:solidFill>
                <a:latin typeface="Cambria"/>
              </a:rPr>
              <a:t>600+</a:t>
            </a:r>
          </a:p>
        </p:txBody>
      </p:sp>
      <p:sp>
        <p:nvSpPr>
          <p:cNvPr id="12" name="TextBox 11"/>
          <p:cNvSpPr txBox="1"/>
          <p:nvPr/>
        </p:nvSpPr>
        <p:spPr>
          <a:xfrm>
            <a:off x="8732520" y="2103120"/>
            <a:ext cx="2834640" cy="914400"/>
          </a:xfrm>
          <a:prstGeom prst="rect">
            <a:avLst/>
          </a:prstGeom>
          <a:noFill/>
        </p:spPr>
        <p:txBody>
          <a:bodyPr wrap="square" anchor="ctr" lIns="36576" rIns="36576" tIns="18288" bIns="18288">
            <a:spAutoFit/>
          </a:bodyPr>
          <a:lstStyle/>
          <a:p>
            <a:pPr algn="l">
              <a:spcAft>
                <a:spcPts val="600"/>
              </a:spcAft>
            </a:pPr>
            <a:r>
              <a:rPr sz="1350" b="0" i="0">
                <a:solidFill>
                  <a:srgbClr val="5B6670"/>
                </a:solidFill>
                <a:latin typeface="Calibri"/>
              </a:rPr>
              <a:t>turns in a single thread, more than a context window can hold</a:t>
            </a:r>
          </a:p>
        </p:txBody>
      </p:sp>
      <p:sp>
        <p:nvSpPr>
          <p:cNvPr id="13" name="Rounded Rectangle 12"/>
          <p:cNvSpPr/>
          <p:nvPr/>
        </p:nvSpPr>
        <p:spPr>
          <a:xfrm>
            <a:off x="7086600" y="3337560"/>
            <a:ext cx="4572000" cy="1261872"/>
          </a:xfrm>
          <a:prstGeom prst="roundRect">
            <a:avLst>
              <a:gd name="adj" fmla="val 3500"/>
            </a:avLst>
          </a:prstGeom>
          <a:solidFill>
            <a:srgbClr val="FFFFFF"/>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3520440"/>
            <a:ext cx="1463040" cy="822960"/>
          </a:xfrm>
          <a:prstGeom prst="rect">
            <a:avLst/>
          </a:prstGeom>
          <a:noFill/>
        </p:spPr>
        <p:txBody>
          <a:bodyPr wrap="square" anchor="ctr" lIns="36576" rIns="36576" tIns="18288" bIns="18288">
            <a:spAutoFit/>
          </a:bodyPr>
          <a:lstStyle/>
          <a:p>
            <a:pPr algn="l">
              <a:spcAft>
                <a:spcPts val="600"/>
              </a:spcAft>
            </a:pPr>
            <a:r>
              <a:rPr sz="3600" b="1" i="0">
                <a:solidFill>
                  <a:srgbClr val="A3226A"/>
                </a:solidFill>
                <a:latin typeface="Cambria"/>
              </a:rPr>
              <a:t>5</a:t>
            </a:r>
          </a:p>
        </p:txBody>
      </p:sp>
      <p:sp>
        <p:nvSpPr>
          <p:cNvPr id="15" name="TextBox 14"/>
          <p:cNvSpPr txBox="1"/>
          <p:nvPr/>
        </p:nvSpPr>
        <p:spPr>
          <a:xfrm>
            <a:off x="8732520" y="3520440"/>
            <a:ext cx="2834640" cy="914400"/>
          </a:xfrm>
          <a:prstGeom prst="rect">
            <a:avLst/>
          </a:prstGeom>
          <a:noFill/>
        </p:spPr>
        <p:txBody>
          <a:bodyPr wrap="square" anchor="ctr" lIns="36576" rIns="36576" tIns="18288" bIns="18288">
            <a:spAutoFit/>
          </a:bodyPr>
          <a:lstStyle/>
          <a:p>
            <a:pPr algn="l">
              <a:spcAft>
                <a:spcPts val="600"/>
              </a:spcAft>
            </a:pPr>
            <a:r>
              <a:rPr sz="1350" b="0" i="0">
                <a:solidFill>
                  <a:srgbClr val="5B6670"/>
                </a:solidFill>
                <a:latin typeface="Calibri"/>
              </a:rPr>
              <a:t>participants, who sometimes state facts that contradict each other</a:t>
            </a:r>
          </a:p>
        </p:txBody>
      </p:sp>
      <p:sp>
        <p:nvSpPr>
          <p:cNvPr id="16" name="Rounded Rectangle 15"/>
          <p:cNvSpPr/>
          <p:nvPr/>
        </p:nvSpPr>
        <p:spPr>
          <a:xfrm>
            <a:off x="7086600" y="4754880"/>
            <a:ext cx="4572000" cy="1261872"/>
          </a:xfrm>
          <a:prstGeom prst="roundRect">
            <a:avLst>
              <a:gd name="adj" fmla="val 3500"/>
            </a:avLst>
          </a:prstGeom>
          <a:solidFill>
            <a:srgbClr val="FFFFFF"/>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69480" y="4937760"/>
            <a:ext cx="1463040" cy="822960"/>
          </a:xfrm>
          <a:prstGeom prst="rect">
            <a:avLst/>
          </a:prstGeom>
          <a:noFill/>
        </p:spPr>
        <p:txBody>
          <a:bodyPr wrap="square" anchor="ctr" lIns="36576" rIns="36576" tIns="18288" bIns="18288">
            <a:spAutoFit/>
          </a:bodyPr>
          <a:lstStyle/>
          <a:p>
            <a:pPr algn="l">
              <a:spcAft>
                <a:spcPts val="600"/>
              </a:spcAft>
            </a:pPr>
            <a:r>
              <a:rPr sz="3600" b="1" i="0">
                <a:solidFill>
                  <a:srgbClr val="A3226A"/>
                </a:solidFill>
                <a:latin typeface="Cambria"/>
              </a:rPr>
              <a:t>13%</a:t>
            </a:r>
          </a:p>
        </p:txBody>
      </p:sp>
      <p:sp>
        <p:nvSpPr>
          <p:cNvPr id="18" name="TextBox 17"/>
          <p:cNvSpPr txBox="1"/>
          <p:nvPr/>
        </p:nvSpPr>
        <p:spPr>
          <a:xfrm>
            <a:off x="8732520" y="4937760"/>
            <a:ext cx="2834640" cy="914400"/>
          </a:xfrm>
          <a:prstGeom prst="rect">
            <a:avLst/>
          </a:prstGeom>
          <a:noFill/>
        </p:spPr>
        <p:txBody>
          <a:bodyPr wrap="square" anchor="ctr" lIns="36576" rIns="36576" tIns="18288" bIns="18288">
            <a:spAutoFit/>
          </a:bodyPr>
          <a:lstStyle/>
          <a:p>
            <a:pPr algn="l">
              <a:spcAft>
                <a:spcPts val="600"/>
              </a:spcAft>
            </a:pPr>
            <a:r>
              <a:rPr sz="1350" b="0" i="0">
                <a:solidFill>
                  <a:srgbClr val="5B6670"/>
                </a:solidFill>
                <a:latin typeface="Calibri"/>
              </a:rPr>
              <a:t>of the time plain similarity search returns a fact that was already replaced</a:t>
            </a:r>
          </a:p>
        </p:txBody>
      </p:sp>
      <p:sp>
        <p:nvSpPr>
          <p:cNvPr id="19" name="TextBox 18"/>
          <p:cNvSpPr txBox="1"/>
          <p:nvPr/>
        </p:nvSpPr>
        <p:spPr>
          <a:xfrm>
            <a:off x="7086600" y="6126480"/>
            <a:ext cx="4572000" cy="274320"/>
          </a:xfrm>
          <a:prstGeom prst="rect">
            <a:avLst/>
          </a:prstGeom>
          <a:noFill/>
        </p:spPr>
        <p:txBody>
          <a:bodyPr wrap="square" anchor="t" lIns="36576" rIns="36576" tIns="18288" bIns="18288">
            <a:spAutoFit/>
          </a:bodyPr>
          <a:lstStyle/>
          <a:p>
            <a:pPr algn="l">
              <a:spcAft>
                <a:spcPts val="600"/>
              </a:spcAft>
            </a:pPr>
            <a:r>
              <a:rPr sz="1050" b="0" i="0">
                <a:solidFill>
                  <a:srgbClr val="7B868E"/>
                </a:solidFill>
                <a:latin typeface="Calibri"/>
              </a:rPr>
              <a:t>Measured on the project corpus with a cosine retriever.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Three ways it goes wrong</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They are often lumped together, but each needs its own fix</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4</a:t>
            </a:r>
          </a:p>
        </p:txBody>
      </p:sp>
      <p:sp>
        <p:nvSpPr>
          <p:cNvPr id="7" name="Rounded Rectangle 6"/>
          <p:cNvSpPr/>
          <p:nvPr/>
        </p:nvSpPr>
        <p:spPr>
          <a:xfrm>
            <a:off x="502920" y="1920240"/>
            <a:ext cx="3611880" cy="3200400"/>
          </a:xfrm>
          <a:prstGeom prst="roundRect">
            <a:avLst>
              <a:gd name="adj" fmla="val 3500"/>
            </a:avLst>
          </a:prstGeom>
          <a:solidFill>
            <a:srgbClr val="FFFFFF"/>
          </a:solidFill>
          <a:ln w="1778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731520" cy="640080"/>
          </a:xfrm>
          <a:prstGeom prst="rect">
            <a:avLst/>
          </a:prstGeom>
          <a:noFill/>
        </p:spPr>
        <p:txBody>
          <a:bodyPr wrap="square" anchor="t" lIns="36576" rIns="36576" tIns="18288" bIns="18288">
            <a:spAutoFit/>
          </a:bodyPr>
          <a:lstStyle/>
          <a:p>
            <a:pPr algn="l">
              <a:spcAft>
                <a:spcPts val="600"/>
              </a:spcAft>
            </a:pPr>
            <a:r>
              <a:rPr sz="3600" b="1" i="0">
                <a:solidFill>
                  <a:srgbClr val="0B5C73"/>
                </a:solidFill>
                <a:latin typeface="Cambria"/>
              </a:rPr>
              <a:t>1</a:t>
            </a:r>
          </a:p>
        </p:txBody>
      </p:sp>
      <p:sp>
        <p:nvSpPr>
          <p:cNvPr id="9" name="TextBox 8"/>
          <p:cNvSpPr txBox="1"/>
          <p:nvPr/>
        </p:nvSpPr>
        <p:spPr>
          <a:xfrm>
            <a:off x="777240" y="2834640"/>
            <a:ext cx="3108960" cy="45720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Catastrophic forgetting</a:t>
            </a:r>
          </a:p>
        </p:txBody>
      </p:sp>
      <p:sp>
        <p:nvSpPr>
          <p:cNvPr id="10" name="TextBox 9"/>
          <p:cNvSpPr txBox="1"/>
          <p:nvPr/>
        </p:nvSpPr>
        <p:spPr>
          <a:xfrm>
            <a:off x="777240" y="3383280"/>
            <a:ext cx="3108960" cy="173736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Training on turn 500 overwrites what the model stored about turn 40. Once it is gone, no retrieval method can bring it back.</a:t>
            </a:r>
          </a:p>
        </p:txBody>
      </p:sp>
      <p:sp>
        <p:nvSpPr>
          <p:cNvPr id="11" name="Rounded Rectangle 10"/>
          <p:cNvSpPr/>
          <p:nvPr/>
        </p:nvSpPr>
        <p:spPr>
          <a:xfrm>
            <a:off x="4343400" y="1920240"/>
            <a:ext cx="3611880" cy="3200400"/>
          </a:xfrm>
          <a:prstGeom prst="roundRect">
            <a:avLst>
              <a:gd name="adj" fmla="val 3500"/>
            </a:avLst>
          </a:prstGeom>
          <a:solidFill>
            <a:srgbClr val="FFFFFF"/>
          </a:solidFill>
          <a:ln w="17780">
            <a:solidFill>
              <a:srgbClr val="A322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103120"/>
            <a:ext cx="731520" cy="640080"/>
          </a:xfrm>
          <a:prstGeom prst="rect">
            <a:avLst/>
          </a:prstGeom>
          <a:noFill/>
        </p:spPr>
        <p:txBody>
          <a:bodyPr wrap="square" anchor="t" lIns="36576" rIns="36576" tIns="18288" bIns="18288">
            <a:spAutoFit/>
          </a:bodyPr>
          <a:lstStyle/>
          <a:p>
            <a:pPr algn="l">
              <a:spcAft>
                <a:spcPts val="600"/>
              </a:spcAft>
            </a:pPr>
            <a:r>
              <a:rPr sz="3600" b="1" i="0">
                <a:solidFill>
                  <a:srgbClr val="A3226A"/>
                </a:solidFill>
                <a:latin typeface="Cambria"/>
              </a:rPr>
              <a:t>2</a:t>
            </a:r>
          </a:p>
        </p:txBody>
      </p:sp>
      <p:sp>
        <p:nvSpPr>
          <p:cNvPr id="13" name="TextBox 12"/>
          <p:cNvSpPr txBox="1"/>
          <p:nvPr/>
        </p:nvSpPr>
        <p:spPr>
          <a:xfrm>
            <a:off x="4617720" y="2834640"/>
            <a:ext cx="3108960" cy="45720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Loss of plasticity</a:t>
            </a:r>
          </a:p>
        </p:txBody>
      </p:sp>
      <p:sp>
        <p:nvSpPr>
          <p:cNvPr id="14" name="TextBox 13"/>
          <p:cNvSpPr txBox="1"/>
          <p:nvPr/>
        </p:nvSpPr>
        <p:spPr>
          <a:xfrm>
            <a:off x="4617720" y="3383280"/>
            <a:ext cx="3108960" cy="173736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Weights grow and units saturate over time. The parameters are still there, but the model can no longer learn much from new data.</a:t>
            </a:r>
          </a:p>
        </p:txBody>
      </p:sp>
      <p:sp>
        <p:nvSpPr>
          <p:cNvPr id="15" name="Rounded Rectangle 14"/>
          <p:cNvSpPr/>
          <p:nvPr/>
        </p:nvSpPr>
        <p:spPr>
          <a:xfrm>
            <a:off x="8183880" y="1920240"/>
            <a:ext cx="3611880" cy="3200400"/>
          </a:xfrm>
          <a:prstGeom prst="roundRect">
            <a:avLst>
              <a:gd name="adj" fmla="val 3500"/>
            </a:avLst>
          </a:prstGeom>
          <a:solidFill>
            <a:srgbClr val="FFFFFF"/>
          </a:solidFill>
          <a:ln w="17780">
            <a:solidFill>
              <a:srgbClr val="2A7D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103120"/>
            <a:ext cx="731520" cy="640080"/>
          </a:xfrm>
          <a:prstGeom prst="rect">
            <a:avLst/>
          </a:prstGeom>
          <a:noFill/>
        </p:spPr>
        <p:txBody>
          <a:bodyPr wrap="square" anchor="t" lIns="36576" rIns="36576" tIns="18288" bIns="18288">
            <a:spAutoFit/>
          </a:bodyPr>
          <a:lstStyle/>
          <a:p>
            <a:pPr algn="l">
              <a:spcAft>
                <a:spcPts val="600"/>
              </a:spcAft>
            </a:pPr>
            <a:r>
              <a:rPr sz="3600" b="1" i="0">
                <a:solidFill>
                  <a:srgbClr val="2A7D57"/>
                </a:solidFill>
                <a:latin typeface="Cambria"/>
              </a:rPr>
              <a:t>3</a:t>
            </a:r>
          </a:p>
        </p:txBody>
      </p:sp>
      <p:sp>
        <p:nvSpPr>
          <p:cNvPr id="17" name="TextBox 16"/>
          <p:cNvSpPr txBox="1"/>
          <p:nvPr/>
        </p:nvSpPr>
        <p:spPr>
          <a:xfrm>
            <a:off x="8458200" y="2834640"/>
            <a:ext cx="3108960" cy="457200"/>
          </a:xfrm>
          <a:prstGeom prst="rect">
            <a:avLst/>
          </a:prstGeom>
          <a:noFill/>
        </p:spPr>
        <p:txBody>
          <a:bodyPr wrap="square" anchor="t" lIns="36576" rIns="36576" tIns="18288" bIns="18288">
            <a:spAutoFit/>
          </a:bodyPr>
          <a:lstStyle/>
          <a:p>
            <a:pPr algn="l">
              <a:spcAft>
                <a:spcPts val="600"/>
              </a:spcAft>
            </a:pPr>
            <a:r>
              <a:rPr sz="1900" b="1" i="0">
                <a:solidFill>
                  <a:srgbClr val="14191D"/>
                </a:solidFill>
                <a:latin typeface="Calibri"/>
              </a:rPr>
              <a:t>Context overload</a:t>
            </a:r>
          </a:p>
        </p:txBody>
      </p:sp>
      <p:sp>
        <p:nvSpPr>
          <p:cNvPr id="18" name="TextBox 17"/>
          <p:cNvSpPr txBox="1"/>
          <p:nvPr/>
        </p:nvSpPr>
        <p:spPr>
          <a:xfrm>
            <a:off x="8458200" y="3383280"/>
            <a:ext cx="3108960" cy="1737360"/>
          </a:xfrm>
          <a:prstGeom prst="rect">
            <a:avLst/>
          </a:prstGeom>
          <a:noFill/>
        </p:spPr>
        <p:txBody>
          <a:bodyPr wrap="square" anchor="t" lIns="36576" rIns="36576" tIns="18288" bIns="18288">
            <a:spAutoFit/>
          </a:bodyPr>
          <a:lstStyle/>
          <a:p>
            <a:pPr algn="l">
              <a:spcAft>
                <a:spcPts val="600"/>
              </a:spcAft>
            </a:pPr>
            <a:r>
              <a:rPr sz="1400" b="0" i="0">
                <a:solidFill>
                  <a:srgbClr val="5B6670"/>
                </a:solidFill>
                <a:latin typeface="Calibri"/>
              </a:rPr>
              <a:t>The simple fix is to put more into the prompt. Attention spreads thin and answers get worse even when the right fact is in the window.</a:t>
            </a:r>
          </a:p>
        </p:txBody>
      </p:sp>
      <p:sp>
        <p:nvSpPr>
          <p:cNvPr id="19" name="Rounded Rectangle 18"/>
          <p:cNvSpPr/>
          <p:nvPr/>
        </p:nvSpPr>
        <p:spPr>
          <a:xfrm>
            <a:off x="502920" y="5349240"/>
            <a:ext cx="11155680" cy="77724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394960"/>
            <a:ext cx="10698480" cy="685800"/>
          </a:xfrm>
          <a:prstGeom prst="rect">
            <a:avLst/>
          </a:prstGeom>
          <a:noFill/>
        </p:spPr>
        <p:txBody>
          <a:bodyPr wrap="square" anchor="ctr" lIns="36576" rIns="36576" tIns="18288" bIns="18288">
            <a:spAutoFit/>
          </a:bodyPr>
          <a:lstStyle/>
          <a:p>
            <a:pPr algn="l">
              <a:spcAft>
                <a:spcPts val="600"/>
              </a:spcAft>
            </a:pPr>
            <a:r>
              <a:rPr sz="1450" b="0" i="0">
                <a:solidFill>
                  <a:srgbClr val="14191D"/>
                </a:solidFill>
                <a:latin typeface="Calibri"/>
              </a:rPr>
              <a:t>Our design addresses each one: the memory cannot be overwritten, the circuit is built to keep its ability to adapt, and the prompt is filled under a fixed token budget.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Related work</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What is established and what each line of work leaves open</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5</a:t>
            </a:r>
          </a:p>
        </p:txBody>
      </p:sp>
      <p:sp>
        <p:nvSpPr>
          <p:cNvPr id="7" name="TextBox 6"/>
          <p:cNvSpPr txBox="1"/>
          <p:nvPr/>
        </p:nvSpPr>
        <p:spPr>
          <a:xfrm>
            <a:off x="502920" y="6355080"/>
            <a:ext cx="10424160" cy="274320"/>
          </a:xfrm>
          <a:prstGeom prst="rect">
            <a:avLst/>
          </a:prstGeom>
          <a:noFill/>
        </p:spPr>
        <p:txBody>
          <a:bodyPr wrap="square" anchor="t" lIns="36576" rIns="36576" tIns="18288" bIns="18288">
            <a:spAutoFit/>
          </a:bodyPr>
          <a:lstStyle/>
          <a:p>
            <a:pPr algn="l">
              <a:spcAft>
                <a:spcPts val="600"/>
              </a:spcAft>
            </a:pPr>
            <a:r>
              <a:rPr sz="1100" b="0" i="0">
                <a:solidFill>
                  <a:srgbClr val="7B868E"/>
                </a:solidFill>
                <a:latin typeface="Calibri"/>
              </a:rPr>
              <a:t>Classic references are cited from the standard literature. The 2026 PRX Quantum paper is the direct basis of this project.</a:t>
            </a:r>
          </a:p>
        </p:txBody>
      </p:sp>
      <p:graphicFrame>
        <p:nvGraphicFramePr>
          <p:cNvPr id="8" name="Table 7"/>
          <p:cNvGraphicFramePr>
            <a:graphicFrameLocks noGrp="1"/>
          </p:cNvGraphicFramePr>
          <p:nvPr/>
        </p:nvGraphicFramePr>
        <p:xfrm>
          <a:off x="502920" y="1828800"/>
          <a:ext cx="11155680" cy="4297680"/>
        </p:xfrm>
        <a:graphic>
          <a:graphicData uri="http://schemas.openxmlformats.org/drawingml/2006/table">
            <a:tbl>
              <a:tblPr>
                <a:tableStyleId>{5C22544A-7EE6-4342-B048-85BDC9FD1C3A}</a:tableStyleId>
              </a:tblPr>
              <a:tblGrid>
                <a:gridCol w="3291840"/>
                <a:gridCol w="4206240"/>
                <a:gridCol w="3657600"/>
              </a:tblGrid>
              <a:tr h="429768">
                <a:tc>
                  <a:txBody>
                    <a:bodyPr wrap="square"/>
                    <a:lstStyle/>
                    <a:p>
                      <a:r>
                        <a:rPr sz="1150" b="1">
                          <a:solidFill>
                            <a:srgbClr val="5B6670"/>
                          </a:solidFill>
                          <a:latin typeface="Calibri"/>
                        </a:rPr>
                        <a:t>Work</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1">
                          <a:solidFill>
                            <a:srgbClr val="5B6670"/>
                          </a:solidFill>
                          <a:latin typeface="Calibri"/>
                        </a:rPr>
                        <a:t>Contribution</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1">
                          <a:solidFill>
                            <a:srgbClr val="5B6670"/>
                          </a:solidFill>
                          <a:latin typeface="Calibri"/>
                        </a:rPr>
                        <a:t>What it leaves open</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McCloskey and Cohen (1989)</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Named catastrophic interference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Describes the problem, no way to prevent it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Kirkpatrick et al. (2017), EWC</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Penalty that anchors important weights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Knowledge still sits in the weights; sensitive to settings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Lopez-Paz and Ranzato (2017), GEM</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Replay with gradient constraints; BWT and FWT metrics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Memory grows; says little about plasticity</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Dohare et al. (2024), Nature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Showed deep networks gradually lose the ability to learn</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Fixes are add-ons such as resets or noise injection</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McClean (2018); Cerezo (2021)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Barren plateaus and their link to the observable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Points to local readouts and shallow circuits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Mitarai (2018); Schuld (2019)</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Parameter-shift rule for exact gradients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Needs involutory generators, which a general SU(4) gate lacks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Lewis et al. (2020), RAG</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Retrieval as external memory</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The ranking is fixed and does not adapt over time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Liu et al. (2023)</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Long contexts degrade even when the fact is present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Confirms overload, gives no allocation policy</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50" b="1">
                          <a:solidFill>
                            <a:srgbClr val="14191D"/>
                          </a:solidFill>
                          <a:latin typeface="Calibri"/>
                        </a:rPr>
                        <a:t>Chen and Zhang (2026), PRX Quantum</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Quantum models keep plasticity on a compact manifold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Says outright that this does not solve forgetting</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The gap</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Quantum circuits keep the ability to learn, but not what they learned</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6</a:t>
            </a:r>
          </a:p>
        </p:txBody>
      </p:sp>
      <p:sp>
        <p:nvSpPr>
          <p:cNvPr id="7" name="Rounded Rectangle 6"/>
          <p:cNvSpPr/>
          <p:nvPr/>
        </p:nvSpPr>
        <p:spPr>
          <a:xfrm>
            <a:off x="502920" y="1920240"/>
            <a:ext cx="11155680" cy="173736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57400"/>
            <a:ext cx="10607040" cy="1554480"/>
          </a:xfrm>
          <a:prstGeom prst="rect">
            <a:avLst/>
          </a:prstGeom>
          <a:noFill/>
        </p:spPr>
        <p:txBody>
          <a:bodyPr wrap="square" anchor="ctr" lIns="36576" rIns="36576" tIns="18288" bIns="18288">
            <a:spAutoFit/>
          </a:bodyPr>
          <a:lstStyle/>
          <a:p>
            <a:pPr algn="l">
              <a:spcAft>
                <a:spcPts val="1000"/>
              </a:spcAft>
            </a:pPr>
            <a:r>
              <a:rPr sz="1650" b="0" i="0">
                <a:solidFill>
                  <a:srgbClr val="14191D"/>
                </a:solidFill>
                <a:latin typeface="Calibri"/>
              </a:rPr>
              <a:t>The reference paper reports that both quantum and classical models still forget catastrophically unless something else holds the old knowledge. It suggests a hybrid: a plastic quantum part together with a classical memory.</a:t>
            </a:r>
          </a:p>
          <a:p>
            <a:pPr algn="l">
              <a:spcAft>
                <a:spcPts val="1000"/>
              </a:spcAft>
            </a:pPr>
            <a:r>
              <a:rPr sz="1650" b="0" i="0">
                <a:solidFill>
                  <a:srgbClr val="14191D"/>
                </a:solidFill>
                <a:latin typeface="Calibri"/>
              </a:rPr>
              <a:t>That suggests splitting the work between the two.</a:t>
            </a:r>
          </a:p>
        </p:txBody>
      </p:sp>
      <p:sp>
        <p:nvSpPr>
          <p:cNvPr id="9" name="Rounded Rectangle 8"/>
          <p:cNvSpPr/>
          <p:nvPr/>
        </p:nvSpPr>
        <p:spPr>
          <a:xfrm>
            <a:off x="502920" y="3931920"/>
            <a:ext cx="5440680" cy="2103120"/>
          </a:xfrm>
          <a:prstGeom prst="roundRect">
            <a:avLst>
              <a:gd name="adj" fmla="val 3500"/>
            </a:avLst>
          </a:prstGeom>
          <a:solidFill>
            <a:srgbClr val="EFF5F7"/>
          </a:solidFill>
          <a:ln w="1270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114800"/>
            <a:ext cx="4937760" cy="457200"/>
          </a:xfrm>
          <a:prstGeom prst="rect">
            <a:avLst/>
          </a:prstGeom>
          <a:noFill/>
        </p:spPr>
        <p:txBody>
          <a:bodyPr wrap="square" anchor="t" lIns="36576" rIns="36576" tIns="18288" bIns="18288">
            <a:spAutoFit/>
          </a:bodyPr>
          <a:lstStyle/>
          <a:p>
            <a:pPr algn="l">
              <a:spcAft>
                <a:spcPts val="600"/>
              </a:spcAft>
            </a:pPr>
            <a:r>
              <a:rPr sz="2100" b="1" i="0">
                <a:solidFill>
                  <a:srgbClr val="0B5C73"/>
                </a:solidFill>
                <a:latin typeface="Cambria"/>
              </a:rPr>
              <a:t>Classical, append-only storage</a:t>
            </a:r>
          </a:p>
        </p:txBody>
      </p:sp>
      <p:sp>
        <p:nvSpPr>
          <p:cNvPr id="11" name="TextBox 10"/>
          <p:cNvSpPr txBox="1"/>
          <p:nvPr/>
        </p:nvSpPr>
        <p:spPr>
          <a:xfrm>
            <a:off x="777240" y="4754880"/>
            <a:ext cx="4937760" cy="1188720"/>
          </a:xfrm>
          <a:prstGeom prst="rect">
            <a:avLst/>
          </a:prstGeom>
          <a:noFill/>
        </p:spPr>
        <p:txBody>
          <a:bodyPr wrap="square" anchor="t" lIns="36576" rIns="36576" tIns="18288" bIns="18288">
            <a:spAutoFit/>
          </a:bodyPr>
          <a:lstStyle/>
          <a:p>
            <a:pPr algn="l">
              <a:spcAft>
                <a:spcPts val="600"/>
              </a:spcAft>
            </a:pPr>
            <a:r>
              <a:rPr sz="1600" b="0" i="0">
                <a:solidFill>
                  <a:srgbClr val="14191D"/>
                </a:solidFill>
                <a:latin typeface="Calibri"/>
              </a:rPr>
              <a:t>Holds what must never be lost. Nothing in it is trained, so training cannot erase it.</a:t>
            </a:r>
          </a:p>
        </p:txBody>
      </p:sp>
      <p:sp>
        <p:nvSpPr>
          <p:cNvPr id="12" name="Rounded Rectangle 11"/>
          <p:cNvSpPr/>
          <p:nvPr/>
        </p:nvSpPr>
        <p:spPr>
          <a:xfrm>
            <a:off x="6217920" y="3931920"/>
            <a:ext cx="5440680" cy="2103120"/>
          </a:xfrm>
          <a:prstGeom prst="roundRect">
            <a:avLst>
              <a:gd name="adj" fmla="val 3500"/>
            </a:avLst>
          </a:prstGeom>
          <a:solidFill>
            <a:srgbClr val="FAEEF4"/>
          </a:solidFill>
          <a:ln w="12700">
            <a:solidFill>
              <a:srgbClr val="A322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4114800"/>
            <a:ext cx="4937760" cy="457200"/>
          </a:xfrm>
          <a:prstGeom prst="rect">
            <a:avLst/>
          </a:prstGeom>
          <a:noFill/>
        </p:spPr>
        <p:txBody>
          <a:bodyPr wrap="square" anchor="t" lIns="36576" rIns="36576" tIns="18288" bIns="18288">
            <a:spAutoFit/>
          </a:bodyPr>
          <a:lstStyle/>
          <a:p>
            <a:pPr algn="l">
              <a:spcAft>
                <a:spcPts val="600"/>
              </a:spcAft>
            </a:pPr>
            <a:r>
              <a:rPr sz="2100" b="1" i="0">
                <a:solidFill>
                  <a:srgbClr val="A3226A"/>
                </a:solidFill>
                <a:latin typeface="Cambria"/>
              </a:rPr>
              <a:t>A compact quantum circuit</a:t>
            </a:r>
          </a:p>
        </p:txBody>
      </p:sp>
      <p:sp>
        <p:nvSpPr>
          <p:cNvPr id="14" name="TextBox 13"/>
          <p:cNvSpPr txBox="1"/>
          <p:nvPr/>
        </p:nvSpPr>
        <p:spPr>
          <a:xfrm>
            <a:off x="6492240" y="4754880"/>
            <a:ext cx="4937760" cy="1188720"/>
          </a:xfrm>
          <a:prstGeom prst="rect">
            <a:avLst/>
          </a:prstGeom>
          <a:noFill/>
        </p:spPr>
        <p:txBody>
          <a:bodyPr wrap="square" anchor="t" lIns="36576" rIns="36576" tIns="18288" bIns="18288">
            <a:spAutoFit/>
          </a:bodyPr>
          <a:lstStyle/>
          <a:p>
            <a:pPr algn="l">
              <a:spcAft>
                <a:spcPts val="600"/>
              </a:spcAft>
            </a:pPr>
            <a:r>
              <a:rPr sz="1600" b="0" i="0">
                <a:solidFill>
                  <a:srgbClr val="14191D"/>
                </a:solidFill>
                <a:latin typeface="Calibri"/>
              </a:rPr>
              <a:t>Holds what must keep learning. Its angles wrap around, so they cannot grow without limit.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Our approach</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Two properties, carried by two different objects</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7</a:t>
            </a:r>
          </a:p>
        </p:txBody>
      </p:sp>
      <p:sp>
        <p:nvSpPr>
          <p:cNvPr id="7" name="Rounded Rectangle 6"/>
          <p:cNvSpPr/>
          <p:nvPr/>
        </p:nvSpPr>
        <p:spPr>
          <a:xfrm>
            <a:off x="502920" y="1874519"/>
            <a:ext cx="5440680" cy="3200400"/>
          </a:xfrm>
          <a:prstGeom prst="roundRect">
            <a:avLst>
              <a:gd name="adj" fmla="val 3500"/>
            </a:avLst>
          </a:prstGeom>
          <a:solidFill>
            <a:srgbClr val="EFF5F7"/>
          </a:solidFill>
          <a:ln w="1270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11680"/>
            <a:ext cx="4937760" cy="457200"/>
          </a:xfrm>
          <a:prstGeom prst="rect">
            <a:avLst/>
          </a:prstGeom>
          <a:noFill/>
        </p:spPr>
        <p:txBody>
          <a:bodyPr wrap="square" anchor="t" lIns="36576" rIns="36576" tIns="18288" bIns="18288">
            <a:spAutoFit/>
          </a:bodyPr>
          <a:lstStyle/>
          <a:p>
            <a:pPr algn="l">
              <a:spcAft>
                <a:spcPts val="600"/>
              </a:spcAft>
            </a:pPr>
            <a:r>
              <a:rPr sz="2100" b="1" i="0">
                <a:solidFill>
                  <a:srgbClr val="0B5C73"/>
                </a:solidFill>
                <a:latin typeface="Cambria"/>
              </a:rPr>
              <a:t>ℳ  Stability: the memory</a:t>
            </a:r>
          </a:p>
        </p:txBody>
      </p:sp>
      <p:sp>
        <p:nvSpPr>
          <p:cNvPr id="9" name="TextBox 8"/>
          <p:cNvSpPr txBox="1"/>
          <p:nvPr/>
        </p:nvSpPr>
        <p:spPr>
          <a:xfrm>
            <a:off x="777240" y="2606040"/>
            <a:ext cx="4937760" cy="2468880"/>
          </a:xfrm>
          <a:prstGeom prst="rect">
            <a:avLst/>
          </a:prstGeom>
          <a:noFill/>
        </p:spPr>
        <p:txBody>
          <a:bodyPr wrap="square" anchor="t" lIns="36576" rIns="36576" tIns="18288" bIns="18288">
            <a:spAutoFit/>
          </a:bodyPr>
          <a:lstStyle/>
          <a:p>
            <a:pPr algn="l" marL="256032" indent="-256032">
              <a:spcAft>
                <a:spcPts val="800"/>
              </a:spcAft>
              <a:buChar char="•"/>
            </a:pPr>
            <a:r>
              <a:rPr sz="1550" b="0" i="0">
                <a:solidFill>
                  <a:srgbClr val="14191D"/>
                </a:solidFill>
                <a:latin typeface="Calibri"/>
              </a:rPr>
              <a:t>Every message unit is stored word for word, add-only</a:t>
            </a:r>
          </a:p>
          <a:p>
            <a:pPr algn="l" marL="256032" indent="-256032">
              <a:spcAft>
                <a:spcPts val="800"/>
              </a:spcAft>
              <a:buChar char="•"/>
            </a:pPr>
            <a:r>
              <a:rPr sz="1550" b="0" i="0">
                <a:solidFill>
                  <a:srgbClr val="14191D"/>
                </a:solidFill>
                <a:latin typeface="Calibri"/>
              </a:rPr>
              <a:t>The database rejects edits and deletes through triggers</a:t>
            </a:r>
          </a:p>
          <a:p>
            <a:pPr algn="l" marL="256032" indent="-256032">
              <a:spcAft>
                <a:spcPts val="800"/>
              </a:spcAft>
              <a:buChar char="•"/>
            </a:pPr>
            <a:r>
              <a:rPr sz="1550" b="0" i="0">
                <a:solidFill>
                  <a:srgbClr val="14191D"/>
                </a:solidFill>
                <a:latin typeface="Calibri"/>
              </a:rPr>
              <a:t>Nothing here is trained, so a gradient step cannot erase it</a:t>
            </a:r>
          </a:p>
          <a:p>
            <a:pPr algn="l" marL="256032" indent="-256032">
              <a:spcAft>
                <a:spcPts val="800"/>
              </a:spcAft>
              <a:buChar char="•"/>
            </a:pPr>
            <a:r>
              <a:rPr sz="1550" b="0" i="0">
                <a:solidFill>
                  <a:srgbClr val="14191D"/>
                </a:solidFill>
                <a:latin typeface="Calibri"/>
              </a:rPr>
              <a:t>A lost fact can only appear as a ranking mistake, which can be corrected</a:t>
            </a:r>
          </a:p>
        </p:txBody>
      </p:sp>
      <p:sp>
        <p:nvSpPr>
          <p:cNvPr id="10" name="Rounded Rectangle 9"/>
          <p:cNvSpPr/>
          <p:nvPr/>
        </p:nvSpPr>
        <p:spPr>
          <a:xfrm>
            <a:off x="6217920" y="1874519"/>
            <a:ext cx="5440680" cy="3200400"/>
          </a:xfrm>
          <a:prstGeom prst="roundRect">
            <a:avLst>
              <a:gd name="adj" fmla="val 3500"/>
            </a:avLst>
          </a:prstGeom>
          <a:solidFill>
            <a:srgbClr val="FAEEF4"/>
          </a:solidFill>
          <a:ln w="12700">
            <a:solidFill>
              <a:srgbClr val="A322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2011680"/>
            <a:ext cx="4937760" cy="457200"/>
          </a:xfrm>
          <a:prstGeom prst="rect">
            <a:avLst/>
          </a:prstGeom>
          <a:noFill/>
        </p:spPr>
        <p:txBody>
          <a:bodyPr wrap="square" anchor="t" lIns="36576" rIns="36576" tIns="18288" bIns="18288">
            <a:spAutoFit/>
          </a:bodyPr>
          <a:lstStyle/>
          <a:p>
            <a:pPr algn="l">
              <a:spcAft>
                <a:spcPts val="600"/>
              </a:spcAft>
            </a:pPr>
            <a:r>
              <a:rPr sz="2100" b="1" i="0">
                <a:solidFill>
                  <a:srgbClr val="A3226A"/>
                </a:solidFill>
                <a:latin typeface="Cambria"/>
              </a:rPr>
              <a:t>U  Plasticity: the circuit</a:t>
            </a:r>
          </a:p>
        </p:txBody>
      </p:sp>
      <p:sp>
        <p:nvSpPr>
          <p:cNvPr id="12" name="TextBox 11"/>
          <p:cNvSpPr txBox="1"/>
          <p:nvPr/>
        </p:nvSpPr>
        <p:spPr>
          <a:xfrm>
            <a:off x="6492240" y="2606040"/>
            <a:ext cx="4937760" cy="2468880"/>
          </a:xfrm>
          <a:prstGeom prst="rect">
            <a:avLst/>
          </a:prstGeom>
          <a:noFill/>
        </p:spPr>
        <p:txBody>
          <a:bodyPr wrap="square" anchor="t" lIns="36576" rIns="36576" tIns="18288" bIns="18288">
            <a:spAutoFit/>
          </a:bodyPr>
          <a:lstStyle/>
          <a:p>
            <a:pPr algn="l" marL="256032" indent="-256032">
              <a:spcAft>
                <a:spcPts val="800"/>
              </a:spcAft>
              <a:buChar char="•"/>
            </a:pPr>
            <a:r>
              <a:rPr sz="1550" b="0" i="0">
                <a:solidFill>
                  <a:srgbClr val="14191D"/>
                </a:solidFill>
                <a:latin typeface="Calibri"/>
              </a:rPr>
              <a:t>A 10-qubit variational circuit with 1,080 angles</a:t>
            </a:r>
          </a:p>
          <a:p>
            <a:pPr algn="l" marL="256032" indent="-256032">
              <a:spcAft>
                <a:spcPts val="800"/>
              </a:spcAft>
              <a:buChar char="•"/>
            </a:pPr>
            <a:r>
              <a:rPr sz="1550" b="0" i="0">
                <a:solidFill>
                  <a:srgbClr val="14191D"/>
                </a:solidFill>
                <a:latin typeface="Calibri"/>
              </a:rPr>
              <a:t>Angles wrap around a circle instead of growing</a:t>
            </a:r>
          </a:p>
          <a:p>
            <a:pPr algn="l" marL="256032" indent="-256032">
              <a:spcAft>
                <a:spcPts val="800"/>
              </a:spcAft>
              <a:buChar char="•"/>
            </a:pPr>
            <a:r>
              <a:rPr sz="1550" b="0" i="0">
                <a:solidFill>
                  <a:srgbClr val="14191D"/>
                </a:solidFill>
                <a:latin typeface="Calibri"/>
              </a:rPr>
              <a:t>Every gate is unitary, so the state keeps unit length</a:t>
            </a:r>
          </a:p>
          <a:p>
            <a:pPr algn="l" marL="256032" indent="-256032">
              <a:spcAft>
                <a:spcPts val="800"/>
              </a:spcAft>
              <a:buChar char="•"/>
            </a:pPr>
            <a:r>
              <a:rPr sz="1550" b="0" i="0">
                <a:solidFill>
                  <a:srgbClr val="14191D"/>
                </a:solidFill>
                <a:latin typeface="Calibri"/>
              </a:rPr>
              <a:t>The paper argues this keeps learning capacity from fading. We test it over 120 tasks</a:t>
            </a:r>
          </a:p>
        </p:txBody>
      </p:sp>
      <p:sp>
        <p:nvSpPr>
          <p:cNvPr id="13" name="Rounded Rectangle 12"/>
          <p:cNvSpPr/>
          <p:nvPr/>
        </p:nvSpPr>
        <p:spPr>
          <a:xfrm>
            <a:off x="502920" y="5257800"/>
            <a:ext cx="11155680" cy="91440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285232"/>
            <a:ext cx="10698480" cy="868680"/>
          </a:xfrm>
          <a:prstGeom prst="rect">
            <a:avLst/>
          </a:prstGeom>
          <a:noFill/>
        </p:spPr>
        <p:txBody>
          <a:bodyPr wrap="square" anchor="ctr" lIns="36576" rIns="36576" tIns="18288" bIns="18288">
            <a:spAutoFit/>
          </a:bodyPr>
          <a:lstStyle/>
          <a:p>
            <a:pPr algn="l">
              <a:spcAft>
                <a:spcPts val="600"/>
              </a:spcAft>
            </a:pPr>
            <a:r>
              <a:rPr sz="1350" b="0" i="0">
                <a:solidFill>
                  <a:srgbClr val="14191D"/>
                </a:solidFill>
                <a:latin typeface="Calibri"/>
              </a:rPr>
              <a:t>The two sides meet at one point. The circuit reads a feature vector for a (query, candidate) pair and returns one relevance score between 0 and 1. Because the interface is this narrow, a classical scorer with the same interface can replace the circuit, which makes the comparison fair.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System architecture</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Four bands, one direction of data flow, one place where learning happens</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8</a:t>
            </a:r>
          </a:p>
        </p:txBody>
      </p:sp>
      <p:pic>
        <p:nvPicPr>
          <p:cNvPr id="7" name="Picture 6" descr="architecture.png"/>
          <p:cNvPicPr>
            <a:picLocks noChangeAspect="1"/>
          </p:cNvPicPr>
          <p:nvPr/>
        </p:nvPicPr>
        <p:blipFill>
          <a:blip r:embed="rId2"/>
          <a:stretch>
            <a:fillRect/>
          </a:stretch>
        </p:blipFill>
        <p:spPr>
          <a:xfrm>
            <a:off x="1293699" y="1737360"/>
            <a:ext cx="9574121" cy="4297680"/>
          </a:xfrm>
          <a:prstGeom prst="rect">
            <a:avLst/>
          </a:prstGeom>
        </p:spPr>
      </p:pic>
      <p:sp>
        <p:nvSpPr>
          <p:cNvPr id="8" name="TextBox 7"/>
          <p:cNvSpPr txBox="1"/>
          <p:nvPr/>
        </p:nvSpPr>
        <p:spPr>
          <a:xfrm>
            <a:off x="502920" y="6035040"/>
            <a:ext cx="11155680" cy="320040"/>
          </a:xfrm>
          <a:prstGeom prst="rect">
            <a:avLst/>
          </a:prstGeom>
          <a:noFill/>
        </p:spPr>
        <p:txBody>
          <a:bodyPr wrap="square" anchor="t" lIns="36576" rIns="36576" tIns="18288" bIns="18288">
            <a:spAutoFit/>
          </a:bodyPr>
          <a:lstStyle/>
          <a:p>
            <a:pPr algn="ctr">
              <a:spcAft>
                <a:spcPts val="600"/>
              </a:spcAft>
            </a:pPr>
            <a:r>
              <a:rPr sz="1200" b="0" i="0">
                <a:solidFill>
                  <a:srgbClr val="5B6670"/>
                </a:solidFill>
                <a:latin typeface="Calibri"/>
              </a:rPr>
              <a:t>Teal: classical and add-only. Pink: the quantum part, the only component that is trained. Green and grey: delivery, with the language model frozen.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The quantum circuit</a:t>
            </a:r>
          </a:p>
        </p:txBody>
      </p:sp>
      <p:sp>
        <p:nvSpPr>
          <p:cNvPr id="5" name="TextBox 4"/>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9</a:t>
            </a:r>
          </a:p>
        </p:txBody>
      </p:sp>
      <p:pic>
        <p:nvPicPr>
          <p:cNvPr id="6" name="Picture 5" descr="circuit.png"/>
          <p:cNvPicPr>
            <a:picLocks noChangeAspect="1"/>
          </p:cNvPicPr>
          <p:nvPr/>
        </p:nvPicPr>
        <p:blipFill>
          <a:blip r:embed="rId2"/>
          <a:stretch>
            <a:fillRect/>
          </a:stretch>
        </p:blipFill>
        <p:spPr>
          <a:xfrm>
            <a:off x="1342000" y="1280160"/>
            <a:ext cx="9477519" cy="5029200"/>
          </a:xfrm>
          <a:prstGeom prst="rect">
            <a:avLst/>
          </a:prstGeom>
        </p:spPr>
      </p:pic>
      <p:sp>
        <p:nvSpPr>
          <p:cNvPr id="7" name="TextBox 6"/>
          <p:cNvSpPr txBox="1"/>
          <p:nvPr/>
        </p:nvSpPr>
        <p:spPr>
          <a:xfrm>
            <a:off x="502920" y="6336792"/>
            <a:ext cx="10515600" cy="274320"/>
          </a:xfrm>
          <a:prstGeom prst="rect">
            <a:avLst/>
          </a:prstGeom>
          <a:noFill/>
        </p:spPr>
        <p:txBody>
          <a:bodyPr wrap="square" anchor="t" lIns="36576" rIns="36576" tIns="18288" bIns="18288">
            <a:spAutoFit/>
          </a:bodyPr>
          <a:lstStyle/>
          <a:p>
            <a:pPr algn="l">
              <a:spcAft>
                <a:spcPts val="600"/>
              </a:spcAft>
            </a:pPr>
            <a:r>
              <a:rPr sz="1050" b="0" i="0">
                <a:solidFill>
                  <a:srgbClr val="7B868E"/>
                </a:solidFill>
                <a:latin typeface="Calibri"/>
              </a:rPr>
              <a:t>The simulator multiplies each gate's 4×4 unitary directly. The CNOT form is what a compiler would give for hardware.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The dataset</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Generated in two steps, so the correct answer is known exactly</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10</a:t>
            </a:r>
          </a:p>
        </p:txBody>
      </p:sp>
      <p:sp>
        <p:nvSpPr>
          <p:cNvPr id="7" name="Rounded Rectangle 6"/>
          <p:cNvSpPr/>
          <p:nvPr/>
        </p:nvSpPr>
        <p:spPr>
          <a:xfrm>
            <a:off x="502920" y="1874519"/>
            <a:ext cx="5486400" cy="425196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011680"/>
            <a:ext cx="5029200" cy="4023360"/>
          </a:xfrm>
          <a:prstGeom prst="rect">
            <a:avLst/>
          </a:prstGeom>
          <a:noFill/>
        </p:spPr>
        <p:txBody>
          <a:bodyPr wrap="square" anchor="t" lIns="36576" rIns="36576" tIns="18288" bIns="18288">
            <a:spAutoFit/>
          </a:bodyPr>
          <a:lstStyle/>
          <a:p>
            <a:pPr algn="l">
              <a:spcAft>
                <a:spcPts val="1200"/>
              </a:spcAft>
            </a:pPr>
            <a:r>
              <a:rPr sz="1800" b="1" i="0">
                <a:solidFill>
                  <a:srgbClr val="0B5C73"/>
                </a:solidFill>
                <a:latin typeface="Calibri"/>
              </a:rPr>
              <a:t>1. Plan</a:t>
            </a:r>
          </a:p>
          <a:p>
            <a:pPr algn="l">
              <a:spcAft>
                <a:spcPts val="1200"/>
              </a:spcAft>
            </a:pPr>
            <a:r>
              <a:rPr sz="1650" b="0" i="0">
                <a:solidFill>
                  <a:srgbClr val="14191D"/>
                </a:solidFill>
                <a:latin typeface="Calibri"/>
              </a:rPr>
              <a:t>Each thread is planned first: who states which fact, which later turn changes it, and which turn asks about it and how far back.</a:t>
            </a:r>
          </a:p>
          <a:p>
            <a:pPr algn="l">
              <a:spcAft>
                <a:spcPts val="1200"/>
              </a:spcAft>
            </a:pPr>
            <a:r>
              <a:rPr sz="1800" b="1" i="0">
                <a:solidFill>
                  <a:srgbClr val="0B5C73"/>
                </a:solidFill>
                <a:latin typeface="Calibri"/>
              </a:rPr>
              <a:t>2. Write the text</a:t>
            </a:r>
          </a:p>
          <a:p>
            <a:pPr algn="l">
              <a:spcAft>
                <a:spcPts val="1200"/>
              </a:spcAft>
            </a:pPr>
            <a:r>
              <a:rPr sz="1650" b="0" i="0">
                <a:solidFill>
                  <a:srgbClr val="14191D"/>
                </a:solidFill>
                <a:latin typeface="Calibri"/>
              </a:rPr>
              <a:t>Templates turn the plan into chat messages. The wording can never add or remove a fact, so the ground truth stays exact.</a:t>
            </a:r>
          </a:p>
          <a:p>
            <a:pPr algn="l">
              <a:spcAft>
                <a:spcPts val="1200"/>
              </a:spcAft>
            </a:pPr>
            <a:r>
              <a:rPr sz="1650" b="0" i="0">
                <a:solidFill>
                  <a:srgbClr val="5B6670"/>
                </a:solidFill>
                <a:latin typeface="Calibri"/>
              </a:rPr>
              <a:t>Three kinds of thread rotate: one owner, several owners, and adversarial. Only adversarial threads contain updates (about 35% of their facts are replaced later).</a:t>
            </a:r>
          </a:p>
        </p:txBody>
      </p:sp>
      <p:graphicFrame>
        <p:nvGraphicFramePr>
          <p:cNvPr id="9" name="Table 8"/>
          <p:cNvGraphicFramePr>
            <a:graphicFrameLocks noGrp="1"/>
          </p:cNvGraphicFramePr>
          <p:nvPr/>
        </p:nvGraphicFramePr>
        <p:xfrm>
          <a:off x="6217920" y="1874519"/>
          <a:ext cx="5440680" cy="2743200"/>
        </p:xfrm>
        <a:graphic>
          <a:graphicData uri="http://schemas.openxmlformats.org/drawingml/2006/table">
            <a:tbl>
              <a:tblPr>
                <a:tableStyleId>{5C22544A-7EE6-4342-B048-85BDC9FD1C3A}</a:tableStyleId>
              </a:tblPr>
              <a:tblGrid>
                <a:gridCol w="1143000"/>
                <a:gridCol w="2377440"/>
                <a:gridCol w="1920240"/>
              </a:tblGrid>
              <a:tr h="457200">
                <a:tc>
                  <a:txBody>
                    <a:bodyPr wrap="square"/>
                    <a:lstStyle/>
                    <a:p>
                      <a:r>
                        <a:rPr sz="1050" b="1">
                          <a:solidFill>
                            <a:srgbClr val="5B6670"/>
                          </a:solidFill>
                          <a:latin typeface="Calibri"/>
                        </a:rPr>
                        <a:t>Turn type</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050" b="1">
                          <a:solidFill>
                            <a:srgbClr val="5B6670"/>
                          </a:solidFill>
                          <a:latin typeface="Calibri"/>
                        </a:rPr>
                        <a:t>What it is</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050" b="1">
                          <a:solidFill>
                            <a:srgbClr val="5B6670"/>
                          </a:solidFill>
                          <a:latin typeface="Calibri"/>
                        </a:rPr>
                        <a:t>Why it is there</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57200">
                <a:tc>
                  <a:txBody>
                    <a:bodyPr wrap="square"/>
                    <a:lstStyle/>
                    <a:p>
                      <a:r>
                        <a:rPr sz="1150" b="1">
                          <a:solidFill>
                            <a:srgbClr val="14191D"/>
                          </a:solidFill>
                          <a:latin typeface="Calibri"/>
                        </a:rPr>
                        <a:t>fact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a participant states an (entity, attribute, value)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the target to retrieve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57200">
                <a:tc>
                  <a:txBody>
                    <a:bodyPr wrap="square"/>
                    <a:lstStyle/>
                    <a:p>
                      <a:r>
                        <a:rPr sz="1150" b="1">
                          <a:solidFill>
                            <a:srgbClr val="14191D"/>
                          </a:solidFill>
                          <a:latin typeface="Calibri"/>
                        </a:rPr>
                        <a:t>update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a later turn changes that fact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creates old-versus-new traps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57200">
                <a:tc>
                  <a:txBody>
                    <a:bodyPr wrap="square"/>
                    <a:lstStyle/>
                    <a:p>
                      <a:r>
                        <a:rPr sz="1150" b="1">
                          <a:solidFill>
                            <a:srgbClr val="14191D"/>
                          </a:solidFill>
                          <a:latin typeface="Calibri"/>
                        </a:rPr>
                        <a:t>probe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a question answerable from stated facts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the measurement point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57200">
                <a:tc>
                  <a:txBody>
                    <a:bodyPr wrap="square"/>
                    <a:lstStyle/>
                    <a:p>
                      <a:r>
                        <a:rPr sz="1150" b="1">
                          <a:solidFill>
                            <a:srgbClr val="14191D"/>
                          </a:solidFill>
                          <a:latin typeface="Calibri"/>
                        </a:rPr>
                        <a:t>distractor</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mentions a real entity with no usable value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defeats keyword matching</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57200">
                <a:tc>
                  <a:txBody>
                    <a:bodyPr wrap="square"/>
                    <a:lstStyle/>
                    <a:p>
                      <a:r>
                        <a:rPr sz="1150" b="1">
                          <a:solidFill>
                            <a:srgbClr val="14191D"/>
                          </a:solidFill>
                          <a:latin typeface="Calibri"/>
                        </a:rPr>
                        <a:t>filler</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ordinary conversation</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0">
                          <a:solidFill>
                            <a:srgbClr val="14191D"/>
                          </a:solidFill>
                          <a:latin typeface="Calibri"/>
                        </a:rPr>
                        <a:t>dilutes the thread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bl>
          </a:graphicData>
        </a:graphic>
      </p:graphicFrame>
      <p:sp>
        <p:nvSpPr>
          <p:cNvPr id="10" name="TextBox 9"/>
          <p:cNvSpPr txBox="1"/>
          <p:nvPr/>
        </p:nvSpPr>
        <p:spPr>
          <a:xfrm>
            <a:off x="6217920" y="4892040"/>
            <a:ext cx="1097280" cy="502920"/>
          </a:xfrm>
          <a:prstGeom prst="rect">
            <a:avLst/>
          </a:prstGeom>
          <a:noFill/>
        </p:spPr>
        <p:txBody>
          <a:bodyPr wrap="square" anchor="t" lIns="36576" rIns="36576" tIns="18288" bIns="18288">
            <a:spAutoFit/>
          </a:bodyPr>
          <a:lstStyle/>
          <a:p>
            <a:pPr algn="ctr">
              <a:spcAft>
                <a:spcPts val="600"/>
              </a:spcAft>
            </a:pPr>
            <a:r>
              <a:rPr sz="1900" b="1" i="0">
                <a:solidFill>
                  <a:srgbClr val="A3226A"/>
                </a:solidFill>
                <a:latin typeface="Cambria"/>
              </a:rPr>
              <a:t>18,000</a:t>
            </a:r>
          </a:p>
        </p:txBody>
      </p:sp>
      <p:sp>
        <p:nvSpPr>
          <p:cNvPr id="11" name="TextBox 10"/>
          <p:cNvSpPr txBox="1"/>
          <p:nvPr/>
        </p:nvSpPr>
        <p:spPr>
          <a:xfrm>
            <a:off x="6217920" y="5394960"/>
            <a:ext cx="1097280" cy="457200"/>
          </a:xfrm>
          <a:prstGeom prst="rect">
            <a:avLst/>
          </a:prstGeom>
          <a:noFill/>
        </p:spPr>
        <p:txBody>
          <a:bodyPr wrap="square" anchor="t" lIns="36576" rIns="36576" tIns="18288" bIns="18288">
            <a:spAutoFit/>
          </a:bodyPr>
          <a:lstStyle/>
          <a:p>
            <a:pPr algn="ctr">
              <a:spcAft>
                <a:spcPts val="600"/>
              </a:spcAft>
            </a:pPr>
            <a:r>
              <a:rPr sz="1100" b="0" i="0">
                <a:solidFill>
                  <a:srgbClr val="5B6670"/>
                </a:solidFill>
                <a:latin typeface="Calibri"/>
              </a:rPr>
              <a:t>turns</a:t>
            </a:r>
          </a:p>
        </p:txBody>
      </p:sp>
      <p:sp>
        <p:nvSpPr>
          <p:cNvPr id="12" name="TextBox 11"/>
          <p:cNvSpPr txBox="1"/>
          <p:nvPr/>
        </p:nvSpPr>
        <p:spPr>
          <a:xfrm>
            <a:off x="7306056" y="4892040"/>
            <a:ext cx="1097280" cy="502920"/>
          </a:xfrm>
          <a:prstGeom prst="rect">
            <a:avLst/>
          </a:prstGeom>
          <a:noFill/>
        </p:spPr>
        <p:txBody>
          <a:bodyPr wrap="square" anchor="t" lIns="36576" rIns="36576" tIns="18288" bIns="18288">
            <a:spAutoFit/>
          </a:bodyPr>
          <a:lstStyle/>
          <a:p>
            <a:pPr algn="ctr">
              <a:spcAft>
                <a:spcPts val="600"/>
              </a:spcAft>
            </a:pPr>
            <a:r>
              <a:rPr sz="1900" b="1" i="0">
                <a:solidFill>
                  <a:srgbClr val="A3226A"/>
                </a:solidFill>
                <a:latin typeface="Cambria"/>
              </a:rPr>
              <a:t>1,800</a:t>
            </a:r>
          </a:p>
        </p:txBody>
      </p:sp>
      <p:sp>
        <p:nvSpPr>
          <p:cNvPr id="13" name="TextBox 12"/>
          <p:cNvSpPr txBox="1"/>
          <p:nvPr/>
        </p:nvSpPr>
        <p:spPr>
          <a:xfrm>
            <a:off x="7306056" y="5394960"/>
            <a:ext cx="1097280" cy="457200"/>
          </a:xfrm>
          <a:prstGeom prst="rect">
            <a:avLst/>
          </a:prstGeom>
          <a:noFill/>
        </p:spPr>
        <p:txBody>
          <a:bodyPr wrap="square" anchor="t" lIns="36576" rIns="36576" tIns="18288" bIns="18288">
            <a:spAutoFit/>
          </a:bodyPr>
          <a:lstStyle/>
          <a:p>
            <a:pPr algn="ctr">
              <a:spcAft>
                <a:spcPts val="600"/>
              </a:spcAft>
            </a:pPr>
            <a:r>
              <a:rPr sz="1100" b="0" i="0">
                <a:solidFill>
                  <a:srgbClr val="5B6670"/>
                </a:solidFill>
                <a:latin typeface="Calibri"/>
              </a:rPr>
              <a:t>probes</a:t>
            </a:r>
          </a:p>
        </p:txBody>
      </p:sp>
      <p:sp>
        <p:nvSpPr>
          <p:cNvPr id="14" name="TextBox 13"/>
          <p:cNvSpPr txBox="1"/>
          <p:nvPr/>
        </p:nvSpPr>
        <p:spPr>
          <a:xfrm>
            <a:off x="8394192" y="4892040"/>
            <a:ext cx="1097280" cy="502920"/>
          </a:xfrm>
          <a:prstGeom prst="rect">
            <a:avLst/>
          </a:prstGeom>
          <a:noFill/>
        </p:spPr>
        <p:txBody>
          <a:bodyPr wrap="square" anchor="t" lIns="36576" rIns="36576" tIns="18288" bIns="18288">
            <a:spAutoFit/>
          </a:bodyPr>
          <a:lstStyle/>
          <a:p>
            <a:pPr algn="ctr">
              <a:spcAft>
                <a:spcPts val="600"/>
              </a:spcAft>
            </a:pPr>
            <a:r>
              <a:rPr sz="1900" b="1" i="0">
                <a:solidFill>
                  <a:srgbClr val="A3226A"/>
                </a:solidFill>
                <a:latin typeface="Cambria"/>
              </a:rPr>
              <a:t>1,920</a:t>
            </a:r>
          </a:p>
        </p:txBody>
      </p:sp>
      <p:sp>
        <p:nvSpPr>
          <p:cNvPr id="15" name="TextBox 14"/>
          <p:cNvSpPr txBox="1"/>
          <p:nvPr/>
        </p:nvSpPr>
        <p:spPr>
          <a:xfrm>
            <a:off x="8394192" y="5394960"/>
            <a:ext cx="1097280" cy="457200"/>
          </a:xfrm>
          <a:prstGeom prst="rect">
            <a:avLst/>
          </a:prstGeom>
          <a:noFill/>
        </p:spPr>
        <p:txBody>
          <a:bodyPr wrap="square" anchor="t" lIns="36576" rIns="36576" tIns="18288" bIns="18288">
            <a:spAutoFit/>
          </a:bodyPr>
          <a:lstStyle/>
          <a:p>
            <a:pPr algn="ctr">
              <a:spcAft>
                <a:spcPts val="600"/>
              </a:spcAft>
            </a:pPr>
            <a:r>
              <a:rPr sz="1100" b="0" i="0">
                <a:solidFill>
                  <a:srgbClr val="5B6670"/>
                </a:solidFill>
                <a:latin typeface="Calibri"/>
              </a:rPr>
              <a:t>facts</a:t>
            </a:r>
          </a:p>
        </p:txBody>
      </p:sp>
      <p:sp>
        <p:nvSpPr>
          <p:cNvPr id="16" name="TextBox 15"/>
          <p:cNvSpPr txBox="1"/>
          <p:nvPr/>
        </p:nvSpPr>
        <p:spPr>
          <a:xfrm>
            <a:off x="9482328" y="4892040"/>
            <a:ext cx="1097280" cy="502920"/>
          </a:xfrm>
          <a:prstGeom prst="rect">
            <a:avLst/>
          </a:prstGeom>
          <a:noFill/>
        </p:spPr>
        <p:txBody>
          <a:bodyPr wrap="square" anchor="t" lIns="36576" rIns="36576" tIns="18288" bIns="18288">
            <a:spAutoFit/>
          </a:bodyPr>
          <a:lstStyle/>
          <a:p>
            <a:pPr algn="ctr">
              <a:spcAft>
                <a:spcPts val="600"/>
              </a:spcAft>
            </a:pPr>
            <a:r>
              <a:rPr sz="1900" b="1" i="0">
                <a:solidFill>
                  <a:srgbClr val="A3226A"/>
                </a:solidFill>
                <a:latin typeface="Cambria"/>
              </a:rPr>
              <a:t>1.000</a:t>
            </a:r>
          </a:p>
        </p:txBody>
      </p:sp>
      <p:sp>
        <p:nvSpPr>
          <p:cNvPr id="17" name="TextBox 16"/>
          <p:cNvSpPr txBox="1"/>
          <p:nvPr/>
        </p:nvSpPr>
        <p:spPr>
          <a:xfrm>
            <a:off x="9482328" y="5394960"/>
            <a:ext cx="1097280" cy="457200"/>
          </a:xfrm>
          <a:prstGeom prst="rect">
            <a:avLst/>
          </a:prstGeom>
          <a:noFill/>
        </p:spPr>
        <p:txBody>
          <a:bodyPr wrap="square" anchor="t" lIns="36576" rIns="36576" tIns="18288" bIns="18288">
            <a:spAutoFit/>
          </a:bodyPr>
          <a:lstStyle/>
          <a:p>
            <a:pPr algn="ctr">
              <a:spcAft>
                <a:spcPts val="600"/>
              </a:spcAft>
            </a:pPr>
            <a:r>
              <a:rPr sz="1100" b="0" i="0">
                <a:solidFill>
                  <a:srgbClr val="5B6670"/>
                </a:solidFill>
                <a:latin typeface="Calibri"/>
              </a:rPr>
              <a:t>oracle recall</a:t>
            </a:r>
          </a:p>
        </p:txBody>
      </p:sp>
      <p:sp>
        <p:nvSpPr>
          <p:cNvPr id="18" name="TextBox 17"/>
          <p:cNvSpPr txBox="1"/>
          <p:nvPr/>
        </p:nvSpPr>
        <p:spPr>
          <a:xfrm>
            <a:off x="10570463" y="4892040"/>
            <a:ext cx="1097280" cy="502920"/>
          </a:xfrm>
          <a:prstGeom prst="rect">
            <a:avLst/>
          </a:prstGeom>
          <a:noFill/>
        </p:spPr>
        <p:txBody>
          <a:bodyPr wrap="square" anchor="t" lIns="36576" rIns="36576" tIns="18288" bIns="18288">
            <a:spAutoFit/>
          </a:bodyPr>
          <a:lstStyle/>
          <a:p>
            <a:pPr algn="ctr">
              <a:spcAft>
                <a:spcPts val="600"/>
              </a:spcAft>
            </a:pPr>
            <a:r>
              <a:rPr sz="1900" b="1" i="0">
                <a:solidFill>
                  <a:srgbClr val="A3226A"/>
                </a:solidFill>
                <a:latin typeface="Cambria"/>
              </a:rPr>
              <a:t>0.042</a:t>
            </a:r>
          </a:p>
        </p:txBody>
      </p:sp>
      <p:sp>
        <p:nvSpPr>
          <p:cNvPr id="19" name="TextBox 18"/>
          <p:cNvSpPr txBox="1"/>
          <p:nvPr/>
        </p:nvSpPr>
        <p:spPr>
          <a:xfrm>
            <a:off x="10570463" y="5394960"/>
            <a:ext cx="1097280" cy="457200"/>
          </a:xfrm>
          <a:prstGeom prst="rect">
            <a:avLst/>
          </a:prstGeom>
          <a:noFill/>
        </p:spPr>
        <p:txBody>
          <a:bodyPr wrap="square" anchor="t" lIns="36576" rIns="36576" tIns="18288" bIns="18288">
            <a:spAutoFit/>
          </a:bodyPr>
          <a:lstStyle/>
          <a:p>
            <a:pPr algn="ctr">
              <a:spcAft>
                <a:spcPts val="600"/>
              </a:spcAft>
            </a:pPr>
            <a:r>
              <a:rPr sz="1100" b="0" i="0">
                <a:solidFill>
                  <a:srgbClr val="5B6670"/>
                </a:solidFill>
                <a:latin typeface="Calibri"/>
              </a:rPr>
              <a:t>random recall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Ten build phases</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Each phase has an exit test that has to pass before the next one starts</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11</a:t>
            </a:r>
          </a:p>
        </p:txBody>
      </p:sp>
      <p:sp>
        <p:nvSpPr>
          <p:cNvPr id="7" name="TextBox 6"/>
          <p:cNvSpPr txBox="1"/>
          <p:nvPr/>
        </p:nvSpPr>
        <p:spPr>
          <a:xfrm>
            <a:off x="502920" y="6355080"/>
            <a:ext cx="10424160" cy="274320"/>
          </a:xfrm>
          <a:prstGeom prst="rect">
            <a:avLst/>
          </a:prstGeom>
          <a:noFill/>
        </p:spPr>
        <p:txBody>
          <a:bodyPr wrap="square" anchor="t" lIns="36576" rIns="36576" tIns="18288" bIns="18288">
            <a:spAutoFit/>
          </a:bodyPr>
          <a:lstStyle/>
          <a:p>
            <a:pPr algn="l">
              <a:spcAft>
                <a:spcPts val="600"/>
              </a:spcAft>
            </a:pPr>
            <a:r>
              <a:rPr sz="1100" b="0" i="0">
                <a:solidFill>
                  <a:srgbClr val="7B868E"/>
                </a:solidFill>
                <a:latin typeface="Calibri"/>
              </a:rPr>
              <a:t>Phases 0 to 8 are finished. Phase 9 is the remaining work.</a:t>
            </a:r>
          </a:p>
        </p:txBody>
      </p:sp>
      <p:sp>
        <p:nvSpPr>
          <p:cNvPr id="8" name="Rounded Rectangle 7"/>
          <p:cNvSpPr/>
          <p:nvPr/>
        </p:nvSpPr>
        <p:spPr>
          <a:xfrm>
            <a:off x="502920" y="2011680"/>
            <a:ext cx="2103120" cy="1783080"/>
          </a:xfrm>
          <a:prstGeom prst="roundRect">
            <a:avLst>
              <a:gd name="adj" fmla="val 3500"/>
            </a:avLst>
          </a:prstGeom>
          <a:solidFill>
            <a:srgbClr val="FFFFFF"/>
          </a:solidFill>
          <a:ln w="1524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103120"/>
            <a:ext cx="731520" cy="548640"/>
          </a:xfrm>
          <a:prstGeom prst="rect">
            <a:avLst/>
          </a:prstGeom>
          <a:noFill/>
        </p:spPr>
        <p:txBody>
          <a:bodyPr wrap="square" anchor="t" lIns="36576" rIns="36576" tIns="18288" bIns="18288">
            <a:spAutoFit/>
          </a:bodyPr>
          <a:lstStyle/>
          <a:p>
            <a:pPr algn="l">
              <a:spcAft>
                <a:spcPts val="600"/>
              </a:spcAft>
            </a:pPr>
            <a:r>
              <a:rPr sz="2800" b="1" i="0">
                <a:solidFill>
                  <a:srgbClr val="0B5C73"/>
                </a:solidFill>
                <a:latin typeface="Cambria"/>
              </a:rPr>
              <a:t>0</a:t>
            </a:r>
          </a:p>
        </p:txBody>
      </p:sp>
      <p:sp>
        <p:nvSpPr>
          <p:cNvPr id="10" name="TextBox 9"/>
          <p:cNvSpPr txBox="1"/>
          <p:nvPr/>
        </p:nvSpPr>
        <p:spPr>
          <a:xfrm>
            <a:off x="640080" y="269748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Foundations</a:t>
            </a:r>
          </a:p>
        </p:txBody>
      </p:sp>
      <p:sp>
        <p:nvSpPr>
          <p:cNvPr id="11" name="TextBox 10"/>
          <p:cNvSpPr txBox="1"/>
          <p:nvPr/>
        </p:nvSpPr>
        <p:spPr>
          <a:xfrm>
            <a:off x="640080" y="306324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one config file, fixed seeds</a:t>
            </a:r>
          </a:p>
        </p:txBody>
      </p:sp>
      <p:sp>
        <p:nvSpPr>
          <p:cNvPr id="12" name="Rounded Rectangle 11"/>
          <p:cNvSpPr/>
          <p:nvPr/>
        </p:nvSpPr>
        <p:spPr>
          <a:xfrm>
            <a:off x="2752344" y="2011680"/>
            <a:ext cx="2103120" cy="1783080"/>
          </a:xfrm>
          <a:prstGeom prst="roundRect">
            <a:avLst>
              <a:gd name="adj" fmla="val 3500"/>
            </a:avLst>
          </a:prstGeom>
          <a:solidFill>
            <a:srgbClr val="FFFFFF"/>
          </a:solidFill>
          <a:ln w="1524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9503" y="2103120"/>
            <a:ext cx="731520" cy="548640"/>
          </a:xfrm>
          <a:prstGeom prst="rect">
            <a:avLst/>
          </a:prstGeom>
          <a:noFill/>
        </p:spPr>
        <p:txBody>
          <a:bodyPr wrap="square" anchor="t" lIns="36576" rIns="36576" tIns="18288" bIns="18288">
            <a:spAutoFit/>
          </a:bodyPr>
          <a:lstStyle/>
          <a:p>
            <a:pPr algn="l">
              <a:spcAft>
                <a:spcPts val="600"/>
              </a:spcAft>
            </a:pPr>
            <a:r>
              <a:rPr sz="2800" b="1" i="0">
                <a:solidFill>
                  <a:srgbClr val="0B5C73"/>
                </a:solidFill>
                <a:latin typeface="Cambria"/>
              </a:rPr>
              <a:t>1</a:t>
            </a:r>
          </a:p>
        </p:txBody>
      </p:sp>
      <p:sp>
        <p:nvSpPr>
          <p:cNvPr id="14" name="TextBox 13"/>
          <p:cNvSpPr txBox="1"/>
          <p:nvPr/>
        </p:nvSpPr>
        <p:spPr>
          <a:xfrm>
            <a:off x="2889503" y="269748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Dataset</a:t>
            </a:r>
          </a:p>
        </p:txBody>
      </p:sp>
      <p:sp>
        <p:nvSpPr>
          <p:cNvPr id="15" name="TextBox 14"/>
          <p:cNvSpPr txBox="1"/>
          <p:nvPr/>
        </p:nvSpPr>
        <p:spPr>
          <a:xfrm>
            <a:off x="2889503" y="306324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ground truth by construction</a:t>
            </a:r>
          </a:p>
        </p:txBody>
      </p:sp>
      <p:sp>
        <p:nvSpPr>
          <p:cNvPr id="16" name="Rounded Rectangle 15"/>
          <p:cNvSpPr/>
          <p:nvPr/>
        </p:nvSpPr>
        <p:spPr>
          <a:xfrm>
            <a:off x="5001768" y="2011680"/>
            <a:ext cx="2103120" cy="1783080"/>
          </a:xfrm>
          <a:prstGeom prst="roundRect">
            <a:avLst>
              <a:gd name="adj" fmla="val 3500"/>
            </a:avLst>
          </a:prstGeom>
          <a:solidFill>
            <a:srgbClr val="FFFFFF"/>
          </a:solidFill>
          <a:ln w="1524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38928" y="2103120"/>
            <a:ext cx="731520" cy="548640"/>
          </a:xfrm>
          <a:prstGeom prst="rect">
            <a:avLst/>
          </a:prstGeom>
          <a:noFill/>
        </p:spPr>
        <p:txBody>
          <a:bodyPr wrap="square" anchor="t" lIns="36576" rIns="36576" tIns="18288" bIns="18288">
            <a:spAutoFit/>
          </a:bodyPr>
          <a:lstStyle/>
          <a:p>
            <a:pPr algn="l">
              <a:spcAft>
                <a:spcPts val="600"/>
              </a:spcAft>
            </a:pPr>
            <a:r>
              <a:rPr sz="2800" b="1" i="0">
                <a:solidFill>
                  <a:srgbClr val="0B5C73"/>
                </a:solidFill>
                <a:latin typeface="Cambria"/>
              </a:rPr>
              <a:t>2</a:t>
            </a:r>
          </a:p>
        </p:txBody>
      </p:sp>
      <p:sp>
        <p:nvSpPr>
          <p:cNvPr id="18" name="TextBox 17"/>
          <p:cNvSpPr txBox="1"/>
          <p:nvPr/>
        </p:nvSpPr>
        <p:spPr>
          <a:xfrm>
            <a:off x="5138928" y="269748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Encoding</a:t>
            </a:r>
          </a:p>
        </p:txBody>
      </p:sp>
      <p:sp>
        <p:nvSpPr>
          <p:cNvPr id="19" name="TextBox 18"/>
          <p:cNvSpPr txBox="1"/>
          <p:nvPr/>
        </p:nvSpPr>
        <p:spPr>
          <a:xfrm>
            <a:off x="5138928" y="306324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text to a unit vector in 1024 dimensions</a:t>
            </a:r>
          </a:p>
        </p:txBody>
      </p:sp>
      <p:sp>
        <p:nvSpPr>
          <p:cNvPr id="20" name="Rounded Rectangle 19"/>
          <p:cNvSpPr/>
          <p:nvPr/>
        </p:nvSpPr>
        <p:spPr>
          <a:xfrm>
            <a:off x="7251192" y="2011680"/>
            <a:ext cx="2103120" cy="1783080"/>
          </a:xfrm>
          <a:prstGeom prst="roundRect">
            <a:avLst>
              <a:gd name="adj" fmla="val 3500"/>
            </a:avLst>
          </a:prstGeom>
          <a:solidFill>
            <a:srgbClr val="FFFFFF"/>
          </a:solidFill>
          <a:ln w="1524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2103120"/>
            <a:ext cx="731520" cy="548640"/>
          </a:xfrm>
          <a:prstGeom prst="rect">
            <a:avLst/>
          </a:prstGeom>
          <a:noFill/>
        </p:spPr>
        <p:txBody>
          <a:bodyPr wrap="square" anchor="t" lIns="36576" rIns="36576" tIns="18288" bIns="18288">
            <a:spAutoFit/>
          </a:bodyPr>
          <a:lstStyle/>
          <a:p>
            <a:pPr algn="l">
              <a:spcAft>
                <a:spcPts val="600"/>
              </a:spcAft>
            </a:pPr>
            <a:r>
              <a:rPr sz="2800" b="1" i="0">
                <a:solidFill>
                  <a:srgbClr val="0B5C73"/>
                </a:solidFill>
                <a:latin typeface="Cambria"/>
              </a:rPr>
              <a:t>3</a:t>
            </a:r>
          </a:p>
        </p:txBody>
      </p:sp>
      <p:sp>
        <p:nvSpPr>
          <p:cNvPr id="22" name="TextBox 21"/>
          <p:cNvSpPr txBox="1"/>
          <p:nvPr/>
        </p:nvSpPr>
        <p:spPr>
          <a:xfrm>
            <a:off x="7388352" y="269748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Memory</a:t>
            </a:r>
          </a:p>
        </p:txBody>
      </p:sp>
      <p:sp>
        <p:nvSpPr>
          <p:cNvPr id="23" name="TextBox 22"/>
          <p:cNvSpPr txBox="1"/>
          <p:nvPr/>
        </p:nvSpPr>
        <p:spPr>
          <a:xfrm>
            <a:off x="7388352" y="306324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append-only, enforced by the database</a:t>
            </a:r>
          </a:p>
        </p:txBody>
      </p:sp>
      <p:sp>
        <p:nvSpPr>
          <p:cNvPr id="24" name="Rounded Rectangle 23"/>
          <p:cNvSpPr/>
          <p:nvPr/>
        </p:nvSpPr>
        <p:spPr>
          <a:xfrm>
            <a:off x="9500616" y="2011680"/>
            <a:ext cx="2103120" cy="1783080"/>
          </a:xfrm>
          <a:prstGeom prst="roundRect">
            <a:avLst>
              <a:gd name="adj" fmla="val 3500"/>
            </a:avLst>
          </a:prstGeom>
          <a:solidFill>
            <a:srgbClr val="FFFFFF"/>
          </a:solidFill>
          <a:ln w="15240">
            <a:solidFill>
              <a:srgbClr val="A322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37776" y="2103120"/>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4</a:t>
            </a:r>
          </a:p>
        </p:txBody>
      </p:sp>
      <p:sp>
        <p:nvSpPr>
          <p:cNvPr id="26" name="TextBox 25"/>
          <p:cNvSpPr txBox="1"/>
          <p:nvPr/>
        </p:nvSpPr>
        <p:spPr>
          <a:xfrm>
            <a:off x="9637776" y="269748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Quantum core</a:t>
            </a:r>
          </a:p>
        </p:txBody>
      </p:sp>
      <p:sp>
        <p:nvSpPr>
          <p:cNvPr id="27" name="TextBox 26"/>
          <p:cNvSpPr txBox="1"/>
          <p:nvPr/>
        </p:nvSpPr>
        <p:spPr>
          <a:xfrm>
            <a:off x="9637776" y="306324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verified circuit, depth chosen from evidence</a:t>
            </a:r>
          </a:p>
        </p:txBody>
      </p:sp>
      <p:sp>
        <p:nvSpPr>
          <p:cNvPr id="28" name="Rounded Rectangle 27"/>
          <p:cNvSpPr/>
          <p:nvPr/>
        </p:nvSpPr>
        <p:spPr>
          <a:xfrm>
            <a:off x="502920" y="4023360"/>
            <a:ext cx="2103120" cy="1783080"/>
          </a:xfrm>
          <a:prstGeom prst="roundRect">
            <a:avLst>
              <a:gd name="adj" fmla="val 3500"/>
            </a:avLst>
          </a:prstGeom>
          <a:solidFill>
            <a:srgbClr val="FFFFFF"/>
          </a:solidFill>
          <a:ln w="1524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4114800"/>
            <a:ext cx="731520" cy="548640"/>
          </a:xfrm>
          <a:prstGeom prst="rect">
            <a:avLst/>
          </a:prstGeom>
          <a:noFill/>
        </p:spPr>
        <p:txBody>
          <a:bodyPr wrap="square" anchor="t" lIns="36576" rIns="36576" tIns="18288" bIns="18288">
            <a:spAutoFit/>
          </a:bodyPr>
          <a:lstStyle/>
          <a:p>
            <a:pPr algn="l">
              <a:spcAft>
                <a:spcPts val="600"/>
              </a:spcAft>
            </a:pPr>
            <a:r>
              <a:rPr sz="2800" b="1" i="0">
                <a:solidFill>
                  <a:srgbClr val="0B5C73"/>
                </a:solidFill>
                <a:latin typeface="Cambria"/>
              </a:rPr>
              <a:t>5</a:t>
            </a:r>
          </a:p>
        </p:txBody>
      </p:sp>
      <p:sp>
        <p:nvSpPr>
          <p:cNvPr id="30" name="TextBox 29"/>
          <p:cNvSpPr txBox="1"/>
          <p:nvPr/>
        </p:nvSpPr>
        <p:spPr>
          <a:xfrm>
            <a:off x="640080" y="470916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Baselines</a:t>
            </a:r>
          </a:p>
        </p:txBody>
      </p:sp>
      <p:sp>
        <p:nvSpPr>
          <p:cNvPr id="31" name="TextBox 30"/>
          <p:cNvSpPr txBox="1"/>
          <p:nvPr/>
        </p:nvSpPr>
        <p:spPr>
          <a:xfrm>
            <a:off x="640080" y="507492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each model at its own best learning rate</a:t>
            </a:r>
          </a:p>
        </p:txBody>
      </p:sp>
      <p:sp>
        <p:nvSpPr>
          <p:cNvPr id="32" name="Rounded Rectangle 31"/>
          <p:cNvSpPr/>
          <p:nvPr/>
        </p:nvSpPr>
        <p:spPr>
          <a:xfrm>
            <a:off x="2752344" y="4023360"/>
            <a:ext cx="2103120" cy="1783080"/>
          </a:xfrm>
          <a:prstGeom prst="roundRect">
            <a:avLst>
              <a:gd name="adj" fmla="val 3500"/>
            </a:avLst>
          </a:prstGeom>
          <a:solidFill>
            <a:srgbClr val="FFFFFF"/>
          </a:solidFill>
          <a:ln w="15240">
            <a:solidFill>
              <a:srgbClr val="A322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889503" y="4114800"/>
            <a:ext cx="731520" cy="548640"/>
          </a:xfrm>
          <a:prstGeom prst="rect">
            <a:avLst/>
          </a:prstGeom>
          <a:noFill/>
        </p:spPr>
        <p:txBody>
          <a:bodyPr wrap="square" anchor="t" lIns="36576" rIns="36576" tIns="18288" bIns="18288">
            <a:spAutoFit/>
          </a:bodyPr>
          <a:lstStyle/>
          <a:p>
            <a:pPr algn="l">
              <a:spcAft>
                <a:spcPts val="600"/>
              </a:spcAft>
            </a:pPr>
            <a:r>
              <a:rPr sz="2800" b="1" i="0">
                <a:solidFill>
                  <a:srgbClr val="A3226A"/>
                </a:solidFill>
                <a:latin typeface="Cambria"/>
              </a:rPr>
              <a:t>6</a:t>
            </a:r>
          </a:p>
        </p:txBody>
      </p:sp>
      <p:sp>
        <p:nvSpPr>
          <p:cNvPr id="34" name="TextBox 33"/>
          <p:cNvSpPr txBox="1"/>
          <p:nvPr/>
        </p:nvSpPr>
        <p:spPr>
          <a:xfrm>
            <a:off x="2889503" y="470916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Continual training</a:t>
            </a:r>
          </a:p>
        </p:txBody>
      </p:sp>
      <p:sp>
        <p:nvSpPr>
          <p:cNvPr id="35" name="TextBox 34"/>
          <p:cNvSpPr txBox="1"/>
          <p:nvPr/>
        </p:nvSpPr>
        <p:spPr>
          <a:xfrm>
            <a:off x="2889503" y="507492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120 tasks, full logging</a:t>
            </a:r>
          </a:p>
        </p:txBody>
      </p:sp>
      <p:sp>
        <p:nvSpPr>
          <p:cNvPr id="36" name="Rounded Rectangle 35"/>
          <p:cNvSpPr/>
          <p:nvPr/>
        </p:nvSpPr>
        <p:spPr>
          <a:xfrm>
            <a:off x="5001768" y="4023360"/>
            <a:ext cx="2103120" cy="1783080"/>
          </a:xfrm>
          <a:prstGeom prst="roundRect">
            <a:avLst>
              <a:gd name="adj" fmla="val 3500"/>
            </a:avLst>
          </a:prstGeom>
          <a:solidFill>
            <a:srgbClr val="FFFFFF"/>
          </a:solidFill>
          <a:ln w="1524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138928" y="4114800"/>
            <a:ext cx="731520" cy="548640"/>
          </a:xfrm>
          <a:prstGeom prst="rect">
            <a:avLst/>
          </a:prstGeom>
          <a:noFill/>
        </p:spPr>
        <p:txBody>
          <a:bodyPr wrap="square" anchor="t" lIns="36576" rIns="36576" tIns="18288" bIns="18288">
            <a:spAutoFit/>
          </a:bodyPr>
          <a:lstStyle/>
          <a:p>
            <a:pPr algn="l">
              <a:spcAft>
                <a:spcPts val="600"/>
              </a:spcAft>
            </a:pPr>
            <a:r>
              <a:rPr sz="2800" b="1" i="0">
                <a:solidFill>
                  <a:srgbClr val="0B5C73"/>
                </a:solidFill>
                <a:latin typeface="Cambria"/>
              </a:rPr>
              <a:t>7</a:t>
            </a:r>
          </a:p>
        </p:txBody>
      </p:sp>
      <p:sp>
        <p:nvSpPr>
          <p:cNvPr id="38" name="TextBox 37"/>
          <p:cNvSpPr txBox="1"/>
          <p:nvPr/>
        </p:nvSpPr>
        <p:spPr>
          <a:xfrm>
            <a:off x="5138928" y="470916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Assembly</a:t>
            </a:r>
          </a:p>
        </p:txBody>
      </p:sp>
      <p:sp>
        <p:nvSpPr>
          <p:cNvPr id="39" name="TextBox 38"/>
          <p:cNvSpPr txBox="1"/>
          <p:nvPr/>
        </p:nvSpPr>
        <p:spPr>
          <a:xfrm>
            <a:off x="5138928" y="507492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budgeted prompt, frozen generator</a:t>
            </a:r>
          </a:p>
        </p:txBody>
      </p:sp>
      <p:sp>
        <p:nvSpPr>
          <p:cNvPr id="40" name="Rounded Rectangle 39"/>
          <p:cNvSpPr/>
          <p:nvPr/>
        </p:nvSpPr>
        <p:spPr>
          <a:xfrm>
            <a:off x="7251192" y="4023360"/>
            <a:ext cx="2103120" cy="1783080"/>
          </a:xfrm>
          <a:prstGeom prst="roundRect">
            <a:avLst>
              <a:gd name="adj" fmla="val 3500"/>
            </a:avLst>
          </a:prstGeom>
          <a:solidFill>
            <a:srgbClr val="FFFFFF"/>
          </a:solidFill>
          <a:ln w="1524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388352" y="4114800"/>
            <a:ext cx="731520" cy="548640"/>
          </a:xfrm>
          <a:prstGeom prst="rect">
            <a:avLst/>
          </a:prstGeom>
          <a:noFill/>
        </p:spPr>
        <p:txBody>
          <a:bodyPr wrap="square" anchor="t" lIns="36576" rIns="36576" tIns="18288" bIns="18288">
            <a:spAutoFit/>
          </a:bodyPr>
          <a:lstStyle/>
          <a:p>
            <a:pPr algn="l">
              <a:spcAft>
                <a:spcPts val="600"/>
              </a:spcAft>
            </a:pPr>
            <a:r>
              <a:rPr sz="2800" b="1" i="0">
                <a:solidFill>
                  <a:srgbClr val="0B5C73"/>
                </a:solidFill>
                <a:latin typeface="Cambria"/>
              </a:rPr>
              <a:t>8</a:t>
            </a:r>
          </a:p>
        </p:txBody>
      </p:sp>
      <p:sp>
        <p:nvSpPr>
          <p:cNvPr id="42" name="TextBox 41"/>
          <p:cNvSpPr txBox="1"/>
          <p:nvPr/>
        </p:nvSpPr>
        <p:spPr>
          <a:xfrm>
            <a:off x="7388352" y="470916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Evaluation</a:t>
            </a:r>
          </a:p>
        </p:txBody>
      </p:sp>
      <p:sp>
        <p:nvSpPr>
          <p:cNvPr id="43" name="TextBox 42"/>
          <p:cNvSpPr txBox="1"/>
          <p:nvPr/>
        </p:nvSpPr>
        <p:spPr>
          <a:xfrm>
            <a:off x="7388352" y="507492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seeds, ablations, noise, sealed test split</a:t>
            </a:r>
          </a:p>
        </p:txBody>
      </p:sp>
      <p:sp>
        <p:nvSpPr>
          <p:cNvPr id="44" name="Rounded Rectangle 43"/>
          <p:cNvSpPr/>
          <p:nvPr/>
        </p:nvSpPr>
        <p:spPr>
          <a:xfrm>
            <a:off x="9500616" y="4023360"/>
            <a:ext cx="2103120" cy="1783080"/>
          </a:xfrm>
          <a:prstGeom prst="roundRect">
            <a:avLst>
              <a:gd name="adj" fmla="val 3500"/>
            </a:avLst>
          </a:prstGeom>
          <a:solidFill>
            <a:srgbClr val="FFFFFF"/>
          </a:solidFill>
          <a:ln w="15240">
            <a:solidFill>
              <a:srgbClr val="5B667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637776" y="4114800"/>
            <a:ext cx="731520" cy="548640"/>
          </a:xfrm>
          <a:prstGeom prst="rect">
            <a:avLst/>
          </a:prstGeom>
          <a:noFill/>
        </p:spPr>
        <p:txBody>
          <a:bodyPr wrap="square" anchor="t" lIns="36576" rIns="36576" tIns="18288" bIns="18288">
            <a:spAutoFit/>
          </a:bodyPr>
          <a:lstStyle/>
          <a:p>
            <a:pPr algn="l">
              <a:spcAft>
                <a:spcPts val="600"/>
              </a:spcAft>
            </a:pPr>
            <a:r>
              <a:rPr sz="2800" b="1" i="0">
                <a:solidFill>
                  <a:srgbClr val="5B6670"/>
                </a:solidFill>
                <a:latin typeface="Cambria"/>
              </a:rPr>
              <a:t>9</a:t>
            </a:r>
          </a:p>
        </p:txBody>
      </p:sp>
      <p:sp>
        <p:nvSpPr>
          <p:cNvPr id="46" name="TextBox 45"/>
          <p:cNvSpPr txBox="1"/>
          <p:nvPr/>
        </p:nvSpPr>
        <p:spPr>
          <a:xfrm>
            <a:off x="9637776" y="4709160"/>
            <a:ext cx="1874519" cy="365760"/>
          </a:xfrm>
          <a:prstGeom prst="rect">
            <a:avLst/>
          </a:prstGeom>
          <a:noFill/>
        </p:spPr>
        <p:txBody>
          <a:bodyPr wrap="square" anchor="t" lIns="36576" rIns="36576" tIns="18288" bIns="18288">
            <a:spAutoFit/>
          </a:bodyPr>
          <a:lstStyle/>
          <a:p>
            <a:pPr algn="l">
              <a:spcAft>
                <a:spcPts val="600"/>
              </a:spcAft>
            </a:pPr>
            <a:r>
              <a:rPr sz="1450" b="1" i="0">
                <a:solidFill>
                  <a:srgbClr val="14191D"/>
                </a:solidFill>
                <a:latin typeface="Calibri"/>
              </a:rPr>
              <a:t>Hardening</a:t>
            </a:r>
          </a:p>
        </p:txBody>
      </p:sp>
      <p:sp>
        <p:nvSpPr>
          <p:cNvPr id="47" name="TextBox 46"/>
          <p:cNvSpPr txBox="1"/>
          <p:nvPr/>
        </p:nvSpPr>
        <p:spPr>
          <a:xfrm>
            <a:off x="9637776" y="5074920"/>
            <a:ext cx="1874519" cy="731520"/>
          </a:xfrm>
          <a:prstGeom prst="rect">
            <a:avLst/>
          </a:prstGeom>
          <a:noFill/>
        </p:spPr>
        <p:txBody>
          <a:bodyPr wrap="square" anchor="t" lIns="36576" rIns="36576" tIns="18288" bIns="18288">
            <a:spAutoFit/>
          </a:bodyPr>
          <a:lstStyle/>
          <a:p>
            <a:pPr algn="l">
              <a:spcAft>
                <a:spcPts val="600"/>
              </a:spcAft>
            </a:pPr>
            <a:r>
              <a:rPr sz="1150" b="0" i="0">
                <a:solidFill>
                  <a:srgbClr val="5B6670"/>
                </a:solidFill>
                <a:latin typeface="Calibri"/>
              </a:rPr>
              <a:t>long run, hardware, real LLM (not started)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What each phase measured</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The main check recorded for every finished phase</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12</a:t>
            </a:r>
          </a:p>
        </p:txBody>
      </p:sp>
      <p:graphicFrame>
        <p:nvGraphicFramePr>
          <p:cNvPr id="7" name="Table 6"/>
          <p:cNvGraphicFramePr>
            <a:graphicFrameLocks noGrp="1"/>
          </p:cNvGraphicFramePr>
          <p:nvPr/>
        </p:nvGraphicFramePr>
        <p:xfrm>
          <a:off x="502920" y="1828800"/>
          <a:ext cx="11155680" cy="4297680"/>
        </p:xfrm>
        <a:graphic>
          <a:graphicData uri="http://schemas.openxmlformats.org/drawingml/2006/table">
            <a:tbl>
              <a:tblPr>
                <a:tableStyleId>{5C22544A-7EE6-4342-B048-85BDC9FD1C3A}</a:tableStyleId>
              </a:tblPr>
              <a:tblGrid>
                <a:gridCol w="2103120"/>
                <a:gridCol w="4754880"/>
                <a:gridCol w="4297680"/>
              </a:tblGrid>
              <a:tr h="429768">
                <a:tc>
                  <a:txBody>
                    <a:bodyPr wrap="square"/>
                    <a:lstStyle/>
                    <a:p>
                      <a:r>
                        <a:rPr sz="1100" b="1">
                          <a:solidFill>
                            <a:srgbClr val="5B6670"/>
                          </a:solidFill>
                          <a:latin typeface="Calibri"/>
                        </a:rPr>
                        <a:t>Phase</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00" b="1">
                          <a:solidFill>
                            <a:srgbClr val="5B6670"/>
                          </a:solidFill>
                          <a:latin typeface="Calibri"/>
                        </a:rPr>
                        <a:t>What happens</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00" b="1">
                          <a:solidFill>
                            <a:srgbClr val="5B6670"/>
                          </a:solidFill>
                          <a:latin typeface="Calibri"/>
                        </a:rPr>
                        <a:t>Result</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0 Foundations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All settings in one file, seeds fixed with a stable hash</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two runs with the same seed give the same output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1 Dataset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Plan each thread, then fill in text from templates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oracle recall 1.000, random 0.042</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2 Encoding</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Frozen encoder, whitening, projection trained once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held-out recall@20 rose from 0.879 to 0.996</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3 Memory</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Verbatim store, summaries added beside sources, supersession graph</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prefilter recall 1.000, 3 mutation tests rejected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4 Quantum core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General SU(4) gate, amplitude encoding, brickwall layers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fidelity 1.000 against PennyLane, gradients agree to 8.6e-9</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5 Baselines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Linear twin, MLP, cosine, recency, random, oracle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tuning the learning rate moved linear from 0.063 to 0.965 MRR</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6 Continual training</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120 tasks in order, replay, quantum Fisher anchor</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backward transfer positive for every model</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7 Assembly</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Exact token counts, greedy selection, stale-fact filter</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budget never exceeded, no unlabelled stale fact served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29768">
                <a:tc>
                  <a:txBody>
                    <a:bodyPr wrap="square"/>
                    <a:lstStyle/>
                    <a:p>
                      <a:r>
                        <a:rPr sz="1200" b="1">
                          <a:solidFill>
                            <a:srgbClr val="14191D"/>
                          </a:solidFill>
                          <a:latin typeface="Calibri"/>
                        </a:rPr>
                        <a:t>8 Evaluation</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3 seeds, ablations, noise, sealed split, bootstrap</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ranking unchanged under depolarising noise up to p = 1e-3</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What we changed</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Read out every qubit instead of one</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13</a:t>
            </a:r>
          </a:p>
        </p:txBody>
      </p:sp>
      <p:sp>
        <p:nvSpPr>
          <p:cNvPr id="7" name="TextBox 6"/>
          <p:cNvSpPr txBox="1"/>
          <p:nvPr/>
        </p:nvSpPr>
        <p:spPr>
          <a:xfrm>
            <a:off x="502920" y="6355080"/>
            <a:ext cx="10424160" cy="274320"/>
          </a:xfrm>
          <a:prstGeom prst="rect">
            <a:avLst/>
          </a:prstGeom>
          <a:noFill/>
        </p:spPr>
        <p:txBody>
          <a:bodyPr wrap="square" anchor="t" lIns="36576" rIns="36576" tIns="18288" bIns="18288">
            <a:spAutoFit/>
          </a:bodyPr>
          <a:lstStyle/>
          <a:p>
            <a:pPr algn="l">
              <a:spcAft>
                <a:spcPts val="600"/>
              </a:spcAft>
            </a:pPr>
            <a:r>
              <a:rPr sz="1100" b="0" i="0">
                <a:solidFill>
                  <a:srgbClr val="7B868E"/>
                </a:solidFill>
                <a:latin typeface="Calibri"/>
              </a:rPr>
              <a:t>Seed 7 first run, then 3 seeds. The test split is the sealed one.</a:t>
            </a:r>
          </a:p>
        </p:txBody>
      </p:sp>
      <p:sp>
        <p:nvSpPr>
          <p:cNvPr id="8" name="Rounded Rectangle 7"/>
          <p:cNvSpPr/>
          <p:nvPr/>
        </p:nvSpPr>
        <p:spPr>
          <a:xfrm>
            <a:off x="502920" y="1874519"/>
            <a:ext cx="5212080" cy="425196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11680"/>
            <a:ext cx="4754880" cy="4023360"/>
          </a:xfrm>
          <a:prstGeom prst="rect">
            <a:avLst/>
          </a:prstGeom>
          <a:noFill/>
        </p:spPr>
        <p:txBody>
          <a:bodyPr wrap="square" anchor="t" lIns="36576" rIns="36576" tIns="18288" bIns="18288">
            <a:spAutoFit/>
          </a:bodyPr>
          <a:lstStyle/>
          <a:p>
            <a:pPr algn="l">
              <a:spcAft>
                <a:spcPts val="1000"/>
              </a:spcAft>
            </a:pPr>
            <a:r>
              <a:rPr sz="1700" b="1" i="0">
                <a:solidFill>
                  <a:srgbClr val="0B5C73"/>
                </a:solidFill>
                <a:latin typeface="Calibri"/>
              </a:rPr>
              <a:t>The problem we found</a:t>
            </a:r>
          </a:p>
          <a:p>
            <a:pPr algn="l">
              <a:spcAft>
                <a:spcPts val="1000"/>
              </a:spcAft>
            </a:pPr>
            <a:r>
              <a:rPr sz="1550" b="0" i="0">
                <a:solidFill>
                  <a:srgbClr val="14191D"/>
                </a:solidFill>
                <a:latin typeface="Calibri"/>
              </a:rPr>
              <a:t>The original circuit measured a single qubit. That gives a quadratic function of the features, which cannot reproduce the cosine-similarity signal in the data. It trailed the linear model on ranking.</a:t>
            </a:r>
          </a:p>
          <a:p>
            <a:pPr algn="l">
              <a:spcAft>
                <a:spcPts val="1000"/>
              </a:spcAft>
            </a:pPr>
            <a:r>
              <a:rPr sz="1700" b="1" i="0">
                <a:solidFill>
                  <a:srgbClr val="0B5C73"/>
                </a:solidFill>
                <a:latin typeface="Calibri"/>
              </a:rPr>
              <a:t>The change</a:t>
            </a:r>
          </a:p>
          <a:p>
            <a:pPr algn="l">
              <a:spcAft>
                <a:spcPts val="1000"/>
              </a:spcAft>
            </a:pPr>
            <a:r>
              <a:rPr sz="1550" b="0" i="0">
                <a:solidFill>
                  <a:srgbClr val="14191D"/>
                </a:solidFill>
                <a:latin typeface="Calibri"/>
              </a:rPr>
              <a:t>Measure all 10 qubits and learn one weight for each: z = Σ w_q⟨Z_q⟩, then r = σ(βz + b). The weights start at the old setting, so step 0 is identical to the original model.</a:t>
            </a:r>
          </a:p>
          <a:p>
            <a:pPr algn="l">
              <a:spcAft>
                <a:spcPts val="1000"/>
              </a:spcAft>
            </a:pPr>
            <a:r>
              <a:rPr sz="1400" b="0" i="0">
                <a:solidFill>
                  <a:srgbClr val="5B6670"/>
                </a:solidFill>
                <a:latin typeface="Calibri"/>
              </a:rPr>
              <a:t>Tried and dropped: a fixed similarity prior (worse), deeper circuits, larger β, more epochs (capacity became erratic).</a:t>
            </a:r>
          </a:p>
        </p:txBody>
      </p:sp>
      <p:graphicFrame>
        <p:nvGraphicFramePr>
          <p:cNvPr id="10" name="Table 9"/>
          <p:cNvGraphicFramePr>
            <a:graphicFrameLocks noGrp="1"/>
          </p:cNvGraphicFramePr>
          <p:nvPr/>
        </p:nvGraphicFramePr>
        <p:xfrm>
          <a:off x="5943600" y="1874519"/>
          <a:ext cx="5715000" cy="2267712"/>
        </p:xfrm>
        <a:graphic>
          <a:graphicData uri="http://schemas.openxmlformats.org/drawingml/2006/table">
            <a:tbl>
              <a:tblPr>
                <a:tableStyleId>{5C22544A-7EE6-4342-B048-85BDC9FD1C3A}</a:tableStyleId>
              </a:tblPr>
              <a:tblGrid>
                <a:gridCol w="1828800"/>
                <a:gridCol w="1280160"/>
                <a:gridCol w="1280160"/>
                <a:gridCol w="1325880"/>
              </a:tblGrid>
              <a:tr h="566928">
                <a:tc>
                  <a:txBody>
                    <a:bodyPr wrap="square"/>
                    <a:lstStyle/>
                    <a:p>
                      <a:r>
                        <a:rPr sz="1100" b="1">
                          <a:solidFill>
                            <a:srgbClr val="5B6670"/>
                          </a:solidFill>
                          <a:latin typeface="Calibri"/>
                        </a:rPr>
                        <a:t>Sealed test split</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00" b="1">
                          <a:solidFill>
                            <a:srgbClr val="5B6670"/>
                          </a:solidFill>
                          <a:latin typeface="Calibri"/>
                        </a:rPr>
                        <a:t>1-qubit</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00" b="1">
                          <a:solidFill>
                            <a:srgbClr val="5B6670"/>
                          </a:solidFill>
                          <a:latin typeface="Calibri"/>
                        </a:rPr>
                        <a:t>10-qubit</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00" b="1">
                          <a:solidFill>
                            <a:srgbClr val="5B6670"/>
                          </a:solidFill>
                          <a:latin typeface="Calibri"/>
                        </a:rPr>
                        <a:t>Linear</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566928">
                <a:tc>
                  <a:txBody>
                    <a:bodyPr wrap="square"/>
                    <a:lstStyle/>
                    <a:p>
                      <a:r>
                        <a:rPr sz="1200" b="1">
                          <a:solidFill>
                            <a:srgbClr val="14191D"/>
                          </a:solidFill>
                          <a:latin typeface="Calibri"/>
                        </a:rPr>
                        <a:t>MRR</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0.861 ± 0.028</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0.974 ± 0.005</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0.974 ± 0.001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566928">
                <a:tc>
                  <a:txBody>
                    <a:bodyPr wrap="square"/>
                    <a:lstStyle/>
                    <a:p>
                      <a:r>
                        <a:rPr sz="1200" b="1">
                          <a:solidFill>
                            <a:srgbClr val="14191D"/>
                          </a:solidFill>
                          <a:latin typeface="Calibri"/>
                        </a:rPr>
                        <a:t>Rank-1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0.778 ± 0.039</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0.951 ± 0.008</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0.951 ± 0.001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566928">
                <a:tc>
                  <a:txBody>
                    <a:bodyPr wrap="square"/>
                    <a:lstStyle/>
                    <a:p>
                      <a:r>
                        <a:rPr sz="1200" b="1">
                          <a:solidFill>
                            <a:srgbClr val="14191D"/>
                          </a:solidFill>
                          <a:latin typeface="Calibri"/>
                        </a:rPr>
                        <a:t>Stale fact ranked first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0.052 ± 0.019</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0.043 ± 0.019</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00" b="0">
                          <a:solidFill>
                            <a:srgbClr val="14191D"/>
                          </a:solidFill>
                          <a:latin typeface="Calibri"/>
                        </a:rPr>
                        <a:t>0.000 ± 0.000</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bl>
          </a:graphicData>
        </a:graphic>
      </p:graphicFrame>
      <p:sp>
        <p:nvSpPr>
          <p:cNvPr id="11" name="Rounded Rectangle 10"/>
          <p:cNvSpPr/>
          <p:nvPr/>
        </p:nvSpPr>
        <p:spPr>
          <a:xfrm>
            <a:off x="5943600" y="4343400"/>
            <a:ext cx="5715000" cy="1783080"/>
          </a:xfrm>
          <a:prstGeom prst="roundRect">
            <a:avLst>
              <a:gd name="adj" fmla="val 3500"/>
            </a:avLst>
          </a:prstGeom>
          <a:solidFill>
            <a:srgbClr val="FAEEF4"/>
          </a:solidFill>
          <a:ln w="12700">
            <a:solidFill>
              <a:srgbClr val="A322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4434840"/>
            <a:ext cx="5303520" cy="1645920"/>
          </a:xfrm>
          <a:prstGeom prst="rect">
            <a:avLst/>
          </a:prstGeom>
          <a:noFill/>
        </p:spPr>
        <p:txBody>
          <a:bodyPr wrap="square" anchor="ctr" lIns="36576" rIns="36576" tIns="18288" bIns="18288">
            <a:spAutoFit/>
          </a:bodyPr>
          <a:lstStyle/>
          <a:p>
            <a:pPr algn="l">
              <a:spcAft>
                <a:spcPts val="800"/>
              </a:spcAft>
            </a:pPr>
            <a:r>
              <a:rPr sz="1450" b="0" i="0">
                <a:solidFill>
                  <a:srgbClr val="14191D"/>
                </a:solidFill>
                <a:latin typeface="Calibri"/>
              </a:rPr>
              <a:t>The change adds 0.114 MRR on the test split (95% CI 0.098 to 0.131).</a:t>
            </a:r>
          </a:p>
          <a:p>
            <a:pPr algn="l">
              <a:spcAft>
                <a:spcPts val="800"/>
              </a:spcAft>
            </a:pPr>
            <a:r>
              <a:rPr sz="1450" b="0" i="0">
                <a:solidFill>
                  <a:srgbClr val="14191D"/>
                </a:solidFill>
                <a:latin typeface="Calibri"/>
              </a:rPr>
              <a:t>Against the linear model the difference is 0.001 (CI -0.007 to 0.009). That is a tie.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How we test stability and plasticity</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Three questions, each with its own measurement</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14</a:t>
            </a:r>
          </a:p>
        </p:txBody>
      </p:sp>
      <p:sp>
        <p:nvSpPr>
          <p:cNvPr id="7" name="Rounded Rectangle 6"/>
          <p:cNvSpPr/>
          <p:nvPr/>
        </p:nvSpPr>
        <p:spPr>
          <a:xfrm>
            <a:off x="502920" y="1920240"/>
            <a:ext cx="3611880" cy="3383280"/>
          </a:xfrm>
          <a:prstGeom prst="roundRect">
            <a:avLst>
              <a:gd name="adj" fmla="val 3500"/>
            </a:avLst>
          </a:prstGeom>
          <a:solidFill>
            <a:srgbClr val="FFFFFF"/>
          </a:solidFill>
          <a:ln w="17780">
            <a:solidFill>
              <a:srgbClr val="0B5C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103120"/>
            <a:ext cx="3108960" cy="365760"/>
          </a:xfrm>
          <a:prstGeom prst="rect">
            <a:avLst/>
          </a:prstGeom>
          <a:noFill/>
        </p:spPr>
        <p:txBody>
          <a:bodyPr wrap="square" anchor="t" lIns="36576" rIns="36576" tIns="18288" bIns="18288">
            <a:spAutoFit/>
          </a:bodyPr>
          <a:lstStyle/>
          <a:p>
            <a:pPr algn="l">
              <a:spcAft>
                <a:spcPts val="600"/>
              </a:spcAft>
            </a:pPr>
            <a:r>
              <a:rPr sz="1200" b="1" i="0">
                <a:solidFill>
                  <a:srgbClr val="0B5C73"/>
                </a:solidFill>
                <a:latin typeface="Calibri"/>
              </a:rPr>
              <a:t>STABILITY</a:t>
            </a:r>
          </a:p>
        </p:txBody>
      </p:sp>
      <p:sp>
        <p:nvSpPr>
          <p:cNvPr id="9" name="TextBox 8"/>
          <p:cNvSpPr txBox="1"/>
          <p:nvPr/>
        </p:nvSpPr>
        <p:spPr>
          <a:xfrm>
            <a:off x="777240" y="2514600"/>
            <a:ext cx="3108960" cy="822960"/>
          </a:xfrm>
          <a:prstGeom prst="rect">
            <a:avLst/>
          </a:prstGeom>
          <a:noFill/>
        </p:spPr>
        <p:txBody>
          <a:bodyPr wrap="square" anchor="t" lIns="36576" rIns="36576" tIns="18288" bIns="18288">
            <a:spAutoFit/>
          </a:bodyPr>
          <a:lstStyle/>
          <a:p>
            <a:pPr algn="l">
              <a:spcAft>
                <a:spcPts val="600"/>
              </a:spcAft>
            </a:pPr>
            <a:r>
              <a:rPr sz="2000" b="1" i="0">
                <a:solidFill>
                  <a:srgbClr val="14191D"/>
                </a:solidFill>
                <a:latin typeface="Cambria"/>
              </a:rPr>
              <a:t>Does it remember the old?</a:t>
            </a:r>
          </a:p>
        </p:txBody>
      </p:sp>
      <p:sp>
        <p:nvSpPr>
          <p:cNvPr id="10" name="TextBox 9"/>
          <p:cNvSpPr txBox="1"/>
          <p:nvPr/>
        </p:nvSpPr>
        <p:spPr>
          <a:xfrm>
            <a:off x="777240" y="3474720"/>
            <a:ext cx="3108960" cy="1828800"/>
          </a:xfrm>
          <a:prstGeom prst="rect">
            <a:avLst/>
          </a:prstGeom>
          <a:noFill/>
        </p:spPr>
        <p:txBody>
          <a:bodyPr wrap="square" anchor="t" lIns="36576" rIns="36576" tIns="18288" bIns="18288">
            <a:spAutoFit/>
          </a:bodyPr>
          <a:lstStyle/>
          <a:p>
            <a:pPr algn="l">
              <a:spcAft>
                <a:spcPts val="600"/>
              </a:spcAft>
            </a:pPr>
            <a:r>
              <a:rPr sz="1550" b="0" i="0">
                <a:solidFill>
                  <a:srgbClr val="5B6670"/>
                </a:solidFill>
                <a:latin typeface="Calibri"/>
              </a:rPr>
              <a:t>After every 10th task, re-test the model on every task it has seen. Also ask for facts stated up to 500 turns earlier.</a:t>
            </a:r>
          </a:p>
        </p:txBody>
      </p:sp>
      <p:sp>
        <p:nvSpPr>
          <p:cNvPr id="11" name="Rounded Rectangle 10"/>
          <p:cNvSpPr/>
          <p:nvPr/>
        </p:nvSpPr>
        <p:spPr>
          <a:xfrm>
            <a:off x="4343400" y="1920240"/>
            <a:ext cx="3611880" cy="3383280"/>
          </a:xfrm>
          <a:prstGeom prst="roundRect">
            <a:avLst>
              <a:gd name="adj" fmla="val 3500"/>
            </a:avLst>
          </a:prstGeom>
          <a:solidFill>
            <a:srgbClr val="FFFFFF"/>
          </a:solidFill>
          <a:ln w="17780">
            <a:solidFill>
              <a:srgbClr val="A322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103120"/>
            <a:ext cx="3108960" cy="365760"/>
          </a:xfrm>
          <a:prstGeom prst="rect">
            <a:avLst/>
          </a:prstGeom>
          <a:noFill/>
        </p:spPr>
        <p:txBody>
          <a:bodyPr wrap="square" anchor="t" lIns="36576" rIns="36576" tIns="18288" bIns="18288">
            <a:spAutoFit/>
          </a:bodyPr>
          <a:lstStyle/>
          <a:p>
            <a:pPr algn="l">
              <a:spcAft>
                <a:spcPts val="600"/>
              </a:spcAft>
            </a:pPr>
            <a:r>
              <a:rPr sz="1200" b="1" i="0">
                <a:solidFill>
                  <a:srgbClr val="A3226A"/>
                </a:solidFill>
                <a:latin typeface="Calibri"/>
              </a:rPr>
              <a:t>PLASTICITY</a:t>
            </a:r>
          </a:p>
        </p:txBody>
      </p:sp>
      <p:sp>
        <p:nvSpPr>
          <p:cNvPr id="13" name="TextBox 12"/>
          <p:cNvSpPr txBox="1"/>
          <p:nvPr/>
        </p:nvSpPr>
        <p:spPr>
          <a:xfrm>
            <a:off x="4617720" y="2514600"/>
            <a:ext cx="3108960" cy="822960"/>
          </a:xfrm>
          <a:prstGeom prst="rect">
            <a:avLst/>
          </a:prstGeom>
          <a:noFill/>
        </p:spPr>
        <p:txBody>
          <a:bodyPr wrap="square" anchor="t" lIns="36576" rIns="36576" tIns="18288" bIns="18288">
            <a:spAutoFit/>
          </a:bodyPr>
          <a:lstStyle/>
          <a:p>
            <a:pPr algn="l">
              <a:spcAft>
                <a:spcPts val="600"/>
              </a:spcAft>
            </a:pPr>
            <a:r>
              <a:rPr sz="2000" b="1" i="0">
                <a:solidFill>
                  <a:srgbClr val="14191D"/>
                </a:solidFill>
                <a:latin typeface="Cambria"/>
              </a:rPr>
              <a:t>Can it learn something new?</a:t>
            </a:r>
          </a:p>
        </p:txBody>
      </p:sp>
      <p:sp>
        <p:nvSpPr>
          <p:cNvPr id="14" name="TextBox 13"/>
          <p:cNvSpPr txBox="1"/>
          <p:nvPr/>
        </p:nvSpPr>
        <p:spPr>
          <a:xfrm>
            <a:off x="4617720" y="3474720"/>
            <a:ext cx="3108960" cy="1828800"/>
          </a:xfrm>
          <a:prstGeom prst="rect">
            <a:avLst/>
          </a:prstGeom>
          <a:noFill/>
        </p:spPr>
        <p:txBody>
          <a:bodyPr wrap="square" anchor="t" lIns="36576" rIns="36576" tIns="18288" bIns="18288">
            <a:spAutoFit/>
          </a:bodyPr>
          <a:lstStyle/>
          <a:p>
            <a:pPr algn="l">
              <a:spcAft>
                <a:spcPts val="600"/>
              </a:spcAft>
            </a:pPr>
            <a:r>
              <a:rPr sz="1550" b="0" i="0">
                <a:solidFill>
                  <a:srgbClr val="5B6670"/>
                </a:solidFill>
                <a:latin typeface="Calibri"/>
              </a:rPr>
              <a:t>Stop after a given number of tasks, copy the model, and train it for 40 steps on a reversed rule: the replaced fact is now the correct answer.</a:t>
            </a:r>
          </a:p>
        </p:txBody>
      </p:sp>
      <p:sp>
        <p:nvSpPr>
          <p:cNvPr id="15" name="Rounded Rectangle 14"/>
          <p:cNvSpPr/>
          <p:nvPr/>
        </p:nvSpPr>
        <p:spPr>
          <a:xfrm>
            <a:off x="8183880" y="1920240"/>
            <a:ext cx="3611880" cy="3383280"/>
          </a:xfrm>
          <a:prstGeom prst="roundRect">
            <a:avLst>
              <a:gd name="adj" fmla="val 3500"/>
            </a:avLst>
          </a:prstGeom>
          <a:solidFill>
            <a:srgbClr val="FFFFFF"/>
          </a:solidFill>
          <a:ln w="17780">
            <a:solidFill>
              <a:srgbClr val="2A7D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2103120"/>
            <a:ext cx="3108960" cy="365760"/>
          </a:xfrm>
          <a:prstGeom prst="rect">
            <a:avLst/>
          </a:prstGeom>
          <a:noFill/>
        </p:spPr>
        <p:txBody>
          <a:bodyPr wrap="square" anchor="t" lIns="36576" rIns="36576" tIns="18288" bIns="18288">
            <a:spAutoFit/>
          </a:bodyPr>
          <a:lstStyle/>
          <a:p>
            <a:pPr algn="l">
              <a:spcAft>
                <a:spcPts val="600"/>
              </a:spcAft>
            </a:pPr>
            <a:r>
              <a:rPr sz="1200" b="1" i="0">
                <a:solidFill>
                  <a:srgbClr val="2A7D57"/>
                </a:solidFill>
                <a:latin typeface="Calibri"/>
              </a:rPr>
              <a:t>COMBINED</a:t>
            </a:r>
          </a:p>
        </p:txBody>
      </p:sp>
      <p:sp>
        <p:nvSpPr>
          <p:cNvPr id="17" name="TextBox 16"/>
          <p:cNvSpPr txBox="1"/>
          <p:nvPr/>
        </p:nvSpPr>
        <p:spPr>
          <a:xfrm>
            <a:off x="8458200" y="2514600"/>
            <a:ext cx="3108960" cy="822960"/>
          </a:xfrm>
          <a:prstGeom prst="rect">
            <a:avLst/>
          </a:prstGeom>
          <a:noFill/>
        </p:spPr>
        <p:txBody>
          <a:bodyPr wrap="square" anchor="t" lIns="36576" rIns="36576" tIns="18288" bIns="18288">
            <a:spAutoFit/>
          </a:bodyPr>
          <a:lstStyle/>
          <a:p>
            <a:pPr algn="l">
              <a:spcAft>
                <a:spcPts val="600"/>
              </a:spcAft>
            </a:pPr>
            <a:r>
              <a:rPr sz="2000" b="1" i="0">
                <a:solidFill>
                  <a:srgbClr val="14191D"/>
                </a:solidFill>
                <a:latin typeface="Cambria"/>
              </a:rPr>
              <a:t>Both together</a:t>
            </a:r>
          </a:p>
        </p:txBody>
      </p:sp>
      <p:sp>
        <p:nvSpPr>
          <p:cNvPr id="18" name="TextBox 17"/>
          <p:cNvSpPr txBox="1"/>
          <p:nvPr/>
        </p:nvSpPr>
        <p:spPr>
          <a:xfrm>
            <a:off x="8458200" y="3474720"/>
            <a:ext cx="3108960" cy="1828800"/>
          </a:xfrm>
          <a:prstGeom prst="rect">
            <a:avLst/>
          </a:prstGeom>
          <a:noFill/>
        </p:spPr>
        <p:txBody>
          <a:bodyPr wrap="square" anchor="t" lIns="36576" rIns="36576" tIns="18288" bIns="18288">
            <a:spAutoFit/>
          </a:bodyPr>
          <a:lstStyle/>
          <a:p>
            <a:pPr algn="l">
              <a:spcAft>
                <a:spcPts val="600"/>
              </a:spcAft>
            </a:pPr>
            <a:r>
              <a:rPr sz="1550" b="0" i="0">
                <a:solidFill>
                  <a:srgbClr val="5B6670"/>
                </a:solidFill>
                <a:latin typeface="Calibri"/>
              </a:rPr>
              <a:t>Take the harmonic mean of the two scores, so a model has to do well on both. Track it as training goes on.</a:t>
            </a:r>
          </a:p>
        </p:txBody>
      </p:sp>
      <p:sp>
        <p:nvSpPr>
          <p:cNvPr id="19" name="Rounded Rectangle 18"/>
          <p:cNvSpPr/>
          <p:nvPr/>
        </p:nvSpPr>
        <p:spPr>
          <a:xfrm>
            <a:off x="502920" y="5532120"/>
            <a:ext cx="11155680" cy="54864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1520" y="5550408"/>
            <a:ext cx="10698480" cy="502920"/>
          </a:xfrm>
          <a:prstGeom prst="rect">
            <a:avLst/>
          </a:prstGeom>
          <a:noFill/>
        </p:spPr>
        <p:txBody>
          <a:bodyPr wrap="square" anchor="ctr" lIns="36576" rIns="36576" tIns="18288" bIns="18288">
            <a:spAutoFit/>
          </a:bodyPr>
          <a:lstStyle/>
          <a:p>
            <a:pPr algn="l">
              <a:spcAft>
                <a:spcPts val="600"/>
              </a:spcAft>
            </a:pPr>
            <a:r>
              <a:rPr sz="1250" b="0" i="0">
                <a:solidFill>
                  <a:srgbClr val="14191D"/>
                </a:solidFill>
                <a:latin typeface="Calibri"/>
              </a:rPr>
              <a:t>MRR (mean reciprocal rank) is 1 when the correct fact is ranked first and falls as it moves down the list.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Result 1: it remembers the old</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Every past task re-tested as training continued (seed 7 shown, mean of 3 seeds below)</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15</a:t>
            </a:r>
          </a:p>
        </p:txBody>
      </p:sp>
      <p:pic>
        <p:nvPicPr>
          <p:cNvPr id="7" name="Picture 6" descr="forgetting_matrix.png"/>
          <p:cNvPicPr>
            <a:picLocks noChangeAspect="1"/>
          </p:cNvPicPr>
          <p:nvPr/>
        </p:nvPicPr>
        <p:blipFill>
          <a:blip r:embed="rId2"/>
          <a:stretch>
            <a:fillRect/>
          </a:stretch>
        </p:blipFill>
        <p:spPr>
          <a:xfrm>
            <a:off x="1482478" y="1783080"/>
            <a:ext cx="9196563" cy="4206240"/>
          </a:xfrm>
          <a:prstGeom prst="rect">
            <a:avLst/>
          </a:prstGeom>
        </p:spPr>
      </p:pic>
      <p:sp>
        <p:nvSpPr>
          <p:cNvPr id="8" name="TextBox 7"/>
          <p:cNvSpPr txBox="1"/>
          <p:nvPr/>
        </p:nvSpPr>
        <p:spPr>
          <a:xfrm>
            <a:off x="502920" y="5943600"/>
            <a:ext cx="11155680" cy="411480"/>
          </a:xfrm>
          <a:prstGeom prst="rect">
            <a:avLst/>
          </a:prstGeom>
          <a:noFill/>
        </p:spPr>
        <p:txBody>
          <a:bodyPr wrap="square" anchor="t" lIns="36576" rIns="36576" tIns="18288" bIns="18288">
            <a:spAutoFit/>
          </a:bodyPr>
          <a:lstStyle/>
          <a:p>
            <a:pPr algn="ctr">
              <a:spcAft>
                <a:spcPts val="600"/>
              </a:spcAft>
            </a:pPr>
            <a:r>
              <a:rPr sz="1250" b="0" i="0">
                <a:solidFill>
                  <a:srgbClr val="5B6670"/>
                </a:solidFill>
                <a:latin typeface="Calibri"/>
              </a:rPr>
              <a:t>Yellow means remembered. No model forgets catastrophically. After 120 tasks the 10-qubit circuit averages 0.98 over all past tasks, against 0.99 for linear and 1.00 for the MLP.</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Result 2: it recalls facts from far back</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Sealed test split, grouped by how long ago the needed fact was stated</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16</a:t>
            </a:r>
          </a:p>
        </p:txBody>
      </p:sp>
      <p:pic>
        <p:nvPicPr>
          <p:cNvPr id="7" name="Picture 6" descr="memory_distance.png"/>
          <p:cNvPicPr>
            <a:picLocks noChangeAspect="1"/>
          </p:cNvPicPr>
          <p:nvPr/>
        </p:nvPicPr>
        <p:blipFill>
          <a:blip r:embed="rId2"/>
          <a:stretch>
            <a:fillRect/>
          </a:stretch>
        </p:blipFill>
        <p:spPr>
          <a:xfrm>
            <a:off x="502920" y="1783080"/>
            <a:ext cx="11155680" cy="3904487"/>
          </a:xfrm>
          <a:prstGeom prst="rect">
            <a:avLst/>
          </a:prstGeom>
        </p:spPr>
      </p:pic>
      <p:sp>
        <p:nvSpPr>
          <p:cNvPr id="8" name="TextBox 7"/>
          <p:cNvSpPr txBox="1"/>
          <p:nvPr/>
        </p:nvSpPr>
        <p:spPr>
          <a:xfrm>
            <a:off x="502920" y="5897880"/>
            <a:ext cx="11155680" cy="457200"/>
          </a:xfrm>
          <a:prstGeom prst="rect">
            <a:avLst/>
          </a:prstGeom>
          <a:noFill/>
        </p:spPr>
        <p:txBody>
          <a:bodyPr wrap="square" anchor="t" lIns="36576" rIns="36576" tIns="18288" bIns="18288">
            <a:spAutoFit/>
          </a:bodyPr>
          <a:lstStyle/>
          <a:p>
            <a:pPr algn="ctr">
              <a:spcAft>
                <a:spcPts val="600"/>
              </a:spcAft>
            </a:pPr>
            <a:r>
              <a:rPr sz="1250" b="0" i="0">
                <a:solidFill>
                  <a:srgbClr val="5B6670"/>
                </a:solidFill>
                <a:latin typeface="Calibri"/>
              </a:rPr>
              <a:t>A model that sees only the last 100 turns scores 0 beyond 200 turns. With the memory, facts older than 400 turns are still found: 0.97 for the 10-qubit circuit, 0.94 for linear, 0.99 for the MLP.</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Result 3: it learns new things</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Score on tasks it has not trained on, and on probes that have an outdated fact among the candidates</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17</a:t>
            </a:r>
          </a:p>
        </p:txBody>
      </p:sp>
      <p:pic>
        <p:nvPicPr>
          <p:cNvPr id="7" name="Picture 6" descr="learning_new.png"/>
          <p:cNvPicPr>
            <a:picLocks noChangeAspect="1"/>
          </p:cNvPicPr>
          <p:nvPr/>
        </p:nvPicPr>
        <p:blipFill>
          <a:blip r:embed="rId2"/>
          <a:stretch>
            <a:fillRect/>
          </a:stretch>
        </p:blipFill>
        <p:spPr>
          <a:xfrm>
            <a:off x="502920" y="1783080"/>
            <a:ext cx="11155680" cy="3817334"/>
          </a:xfrm>
          <a:prstGeom prst="rect">
            <a:avLst/>
          </a:prstGeom>
        </p:spPr>
      </p:pic>
      <p:sp>
        <p:nvSpPr>
          <p:cNvPr id="8" name="TextBox 7"/>
          <p:cNvSpPr txBox="1"/>
          <p:nvPr/>
        </p:nvSpPr>
        <p:spPr>
          <a:xfrm>
            <a:off x="502920" y="5806440"/>
            <a:ext cx="11155680" cy="548640"/>
          </a:xfrm>
          <a:prstGeom prst="rect">
            <a:avLst/>
          </a:prstGeom>
          <a:noFill/>
        </p:spPr>
        <p:txBody>
          <a:bodyPr wrap="square" anchor="t" lIns="36576" rIns="36576" tIns="18288" bIns="18288">
            <a:spAutoFit/>
          </a:bodyPr>
          <a:lstStyle/>
          <a:p>
            <a:pPr algn="ctr">
              <a:spcAft>
                <a:spcPts val="600"/>
              </a:spcAft>
            </a:pPr>
            <a:r>
              <a:rPr sz="1200" b="0" i="0">
                <a:solidFill>
                  <a:srgbClr val="5B6670"/>
                </a:solidFill>
                <a:latin typeface="Calibri"/>
              </a:rPr>
              <a:t>Every model starts untrained and picks up the task within about 15 tasks. On probes with an outdated fact among the candidates (the situation an update creates), the 10-qubit circuit scores 0.96, compared with 0.89 for plain similarity search. After the first tasks, a trained model already does well on unseen tasks, so the reversed-rule test on the next slide is the sharper check of plasticity.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Result 4: learning a reversed rule</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After many tasks, can the model still learn something that contradicts what it knows?</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18</a:t>
            </a:r>
          </a:p>
        </p:txBody>
      </p:sp>
      <p:pic>
        <p:nvPicPr>
          <p:cNvPr id="7" name="Picture 6" descr="plasticity.png"/>
          <p:cNvPicPr>
            <a:picLocks noChangeAspect="1"/>
          </p:cNvPicPr>
          <p:nvPr/>
        </p:nvPicPr>
        <p:blipFill>
          <a:blip r:embed="rId2"/>
          <a:stretch>
            <a:fillRect/>
          </a:stretch>
        </p:blipFill>
        <p:spPr>
          <a:xfrm>
            <a:off x="502920" y="1783080"/>
            <a:ext cx="11155680" cy="3817334"/>
          </a:xfrm>
          <a:prstGeom prst="rect">
            <a:avLst/>
          </a:prstGeom>
        </p:spPr>
      </p:pic>
      <p:sp>
        <p:nvSpPr>
          <p:cNvPr id="8" name="TextBox 7"/>
          <p:cNvSpPr txBox="1"/>
          <p:nvPr/>
        </p:nvSpPr>
        <p:spPr>
          <a:xfrm>
            <a:off x="502920" y="5852160"/>
            <a:ext cx="11155680" cy="502920"/>
          </a:xfrm>
          <a:prstGeom prst="rect">
            <a:avLst/>
          </a:prstGeom>
          <a:noFill/>
        </p:spPr>
        <p:txBody>
          <a:bodyPr wrap="square" anchor="t" lIns="36576" rIns="36576" tIns="18288" bIns="18288">
            <a:spAutoFit/>
          </a:bodyPr>
          <a:lstStyle/>
          <a:p>
            <a:pPr algn="ctr">
              <a:spcAft>
                <a:spcPts val="600"/>
              </a:spcAft>
            </a:pPr>
            <a:r>
              <a:rPr sz="1250" b="0" i="0">
                <a:solidFill>
                  <a:srgbClr val="5B6670"/>
                </a:solidFill>
                <a:latin typeface="Calibri"/>
              </a:rPr>
              <a:t>At each model's training learning rate, linear and MLP lose most of this ability over 120 tasks (about 0.8 down to about 0.2). Both quantum models keep it at about 0.84. The next slides check how much of that is down to the learning rate.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Both together</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Each model's path through the stability and plasticity plane</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19</a:t>
            </a:r>
          </a:p>
        </p:txBody>
      </p:sp>
      <p:pic>
        <p:nvPicPr>
          <p:cNvPr id="7" name="Picture 6" descr="dilemma.png"/>
          <p:cNvPicPr>
            <a:picLocks noChangeAspect="1"/>
          </p:cNvPicPr>
          <p:nvPr/>
        </p:nvPicPr>
        <p:blipFill>
          <a:blip r:embed="rId2"/>
          <a:stretch>
            <a:fillRect/>
          </a:stretch>
        </p:blipFill>
        <p:spPr>
          <a:xfrm>
            <a:off x="571404" y="1783080"/>
            <a:ext cx="11018711" cy="4114800"/>
          </a:xfrm>
          <a:prstGeom prst="rect">
            <a:avLst/>
          </a:prstGeom>
        </p:spPr>
      </p:pic>
      <p:sp>
        <p:nvSpPr>
          <p:cNvPr id="8" name="TextBox 7"/>
          <p:cNvSpPr txBox="1"/>
          <p:nvPr/>
        </p:nvSpPr>
        <p:spPr>
          <a:xfrm>
            <a:off x="502920" y="5897880"/>
            <a:ext cx="11155680" cy="457200"/>
          </a:xfrm>
          <a:prstGeom prst="rect">
            <a:avLst/>
          </a:prstGeom>
          <a:noFill/>
        </p:spPr>
        <p:txBody>
          <a:bodyPr wrap="square" anchor="t" lIns="36576" rIns="36576" tIns="18288" bIns="18288">
            <a:spAutoFit/>
          </a:bodyPr>
          <a:lstStyle/>
          <a:p>
            <a:pPr algn="ctr">
              <a:spcAft>
                <a:spcPts val="600"/>
              </a:spcAft>
            </a:pPr>
            <a:r>
              <a:rPr sz="1250" b="0" i="0">
                <a:solidFill>
                  <a:srgbClr val="5B6670"/>
                </a:solidFill>
                <a:latin typeface="Calibri"/>
              </a:rPr>
              <a:t>After 120 tasks the combined score is 0.90 for the 10-qubit circuit, 0.32 for linear and 0.32 for the MLP. The classical models end up very stable but much less able to adapt. The circuit stays closer to the top right.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Is it just the learning rate?</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Every model re-learns the reversed rule at the best of six learning rates</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20</a:t>
            </a:r>
          </a:p>
        </p:txBody>
      </p:sp>
      <p:pic>
        <p:nvPicPr>
          <p:cNvPr id="7" name="Picture 6" descr="fairness.png"/>
          <p:cNvPicPr>
            <a:picLocks noChangeAspect="1"/>
          </p:cNvPicPr>
          <p:nvPr/>
        </p:nvPicPr>
        <p:blipFill>
          <a:blip r:embed="rId2"/>
          <a:stretch>
            <a:fillRect/>
          </a:stretch>
        </p:blipFill>
        <p:spPr>
          <a:xfrm>
            <a:off x="502920" y="1783080"/>
            <a:ext cx="6035040" cy="3763278"/>
          </a:xfrm>
          <a:prstGeom prst="rect">
            <a:avLst/>
          </a:prstGeom>
        </p:spPr>
      </p:pic>
      <p:sp>
        <p:nvSpPr>
          <p:cNvPr id="8" name="Rounded Rectangle 7"/>
          <p:cNvSpPr/>
          <p:nvPr/>
        </p:nvSpPr>
        <p:spPr>
          <a:xfrm>
            <a:off x="6766560" y="1920240"/>
            <a:ext cx="4892040" cy="393192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2057400"/>
            <a:ext cx="4480560" cy="3749039"/>
          </a:xfrm>
          <a:prstGeom prst="rect">
            <a:avLst/>
          </a:prstGeom>
          <a:noFill/>
        </p:spPr>
        <p:txBody>
          <a:bodyPr wrap="square" anchor="t" lIns="36576" rIns="36576" tIns="18288" bIns="18288">
            <a:spAutoFit/>
          </a:bodyPr>
          <a:lstStyle/>
          <a:p>
            <a:pPr algn="l">
              <a:spcAft>
                <a:spcPts val="1100"/>
              </a:spcAft>
            </a:pPr>
            <a:r>
              <a:rPr sz="2000" b="1" i="0">
                <a:solidFill>
                  <a:srgbClr val="A3226A"/>
                </a:solidFill>
                <a:latin typeface="Cambria"/>
              </a:rPr>
              <a:t>Partly.</a:t>
            </a:r>
          </a:p>
          <a:p>
            <a:pPr algn="l">
              <a:spcAft>
                <a:spcPts val="1100"/>
              </a:spcAft>
            </a:pPr>
            <a:r>
              <a:rPr sz="1550" b="0" i="0">
                <a:solidFill>
                  <a:srgbClr val="14191D"/>
                </a:solidFill>
                <a:latin typeface="Calibri"/>
              </a:rPr>
              <a:t>With the best step size and 80 steps, the classical models recover a good part of the loss: linear reaches 0.72 and the MLP 0.71, although the MLP is erratic across seeds (0.95, 0.29, 0.89).</a:t>
            </a:r>
          </a:p>
          <a:p>
            <a:pPr algn="l">
              <a:spcAft>
                <a:spcPts val="1100"/>
              </a:spcAft>
            </a:pPr>
            <a:r>
              <a:rPr sz="1550" b="0" i="0">
                <a:solidFill>
                  <a:srgbClr val="14191D"/>
                </a:solidFill>
                <a:latin typeface="Calibri"/>
              </a:rPr>
              <a:t>The circuit is still faster and steadier: 0.86 after 40 steps against 0.49 and 0.55, and 0.97 after 80 steps.</a:t>
            </a:r>
          </a:p>
          <a:p>
            <a:pPr algn="l">
              <a:spcAft>
                <a:spcPts val="1100"/>
              </a:spcAft>
            </a:pPr>
            <a:r>
              <a:rPr sz="1550" b="0" i="0">
                <a:solidFill>
                  <a:srgbClr val="14191D"/>
                </a:solidFill>
                <a:latin typeface="Calibri"/>
              </a:rPr>
              <a:t>The classical models can still learn the new rule. The circuit is faster and more consistent at it.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Scorecard</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Mean ± standard deviation over 3 seeds, after 120 tasks</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21</a:t>
            </a:r>
          </a:p>
        </p:txBody>
      </p:sp>
      <p:graphicFrame>
        <p:nvGraphicFramePr>
          <p:cNvPr id="7" name="Table 6"/>
          <p:cNvGraphicFramePr>
            <a:graphicFrameLocks noGrp="1"/>
          </p:cNvGraphicFramePr>
          <p:nvPr/>
        </p:nvGraphicFramePr>
        <p:xfrm>
          <a:off x="502920" y="1828800"/>
          <a:ext cx="11155680" cy="2834640"/>
        </p:xfrm>
        <a:graphic>
          <a:graphicData uri="http://schemas.openxmlformats.org/drawingml/2006/table">
            <a:tbl>
              <a:tblPr>
                <a:tableStyleId>{5C22544A-7EE6-4342-B048-85BDC9FD1C3A}</a:tableStyleId>
              </a:tblPr>
              <a:tblGrid>
                <a:gridCol w="3017520"/>
                <a:gridCol w="1737360"/>
                <a:gridCol w="1737360"/>
                <a:gridCol w="1737360"/>
                <a:gridCol w="1737360"/>
                <a:gridCol w="1188720"/>
              </a:tblGrid>
              <a:tr h="566928">
                <a:tc>
                  <a:txBody>
                    <a:bodyPr wrap="square"/>
                    <a:lstStyle/>
                    <a:p>
                      <a:r>
                        <a:rPr sz="1250" b="1">
                          <a:solidFill>
                            <a:srgbClr val="5B6670"/>
                          </a:solidFill>
                          <a:latin typeface="Calibri"/>
                        </a:rPr>
                        <a:t>Model</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1">
                          <a:solidFill>
                            <a:srgbClr val="5B6670"/>
                          </a:solidFill>
                          <a:latin typeface="Calibri"/>
                        </a:rPr>
                        <a:t>Test MRR</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1">
                          <a:solidFill>
                            <a:srgbClr val="5B6670"/>
                          </a:solidFill>
                          <a:latin typeface="Calibri"/>
                        </a:rPr>
                        <a:t>Stability</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1">
                          <a:solidFill>
                            <a:srgbClr val="5B6670"/>
                          </a:solidFill>
                          <a:latin typeface="Calibri"/>
                        </a:rPr>
                        <a:t>Plasticity</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1">
                          <a:solidFill>
                            <a:srgbClr val="5B6670"/>
                          </a:solidFill>
                          <a:latin typeface="Calibri"/>
                        </a:rPr>
                        <a:t>Combined</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1">
                          <a:solidFill>
                            <a:srgbClr val="5B6670"/>
                          </a:solidFill>
                          <a:latin typeface="Calibri"/>
                        </a:rPr>
                        <a:t>Parameters</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566928">
                <a:tc>
                  <a:txBody>
                    <a:bodyPr wrap="square"/>
                    <a:lstStyle/>
                    <a:p>
                      <a:r>
                        <a:rPr sz="1350" b="1">
                          <a:solidFill>
                            <a:srgbClr val="14191D"/>
                          </a:solidFill>
                          <a:latin typeface="Calibri"/>
                        </a:rPr>
                        <a:t>Quantum, 10-qubit readout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0.974 ± 0.005</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0.967 ± 0.006</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0.835 ± 0.030</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0.896 ± 0.016</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1,080</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566928">
                <a:tc>
                  <a:txBody>
                    <a:bodyPr wrap="square"/>
                    <a:lstStyle/>
                    <a:p>
                      <a:r>
                        <a:rPr sz="1350" b="1">
                          <a:solidFill>
                            <a:srgbClr val="14191D"/>
                          </a:solidFill>
                          <a:latin typeface="Calibri"/>
                        </a:rPr>
                        <a:t>Quantum, 1-qubit readout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0.861 ± 0.028</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0.873 ± 0.033</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0.846 ± 0.055</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0.859 ± 0.041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1,080</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566928">
                <a:tc>
                  <a:txBody>
                    <a:bodyPr wrap="square"/>
                    <a:lstStyle/>
                    <a:p>
                      <a:r>
                        <a:rPr sz="1350" b="1">
                          <a:solidFill>
                            <a:srgbClr val="14191D"/>
                          </a:solidFill>
                          <a:latin typeface="Calibri"/>
                        </a:rPr>
                        <a:t>Linear</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0.974 ± 0.001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0.982 ± 0.001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0.194 ± 0.008</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0.323 ± 0.011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1,025</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566928">
                <a:tc>
                  <a:txBody>
                    <a:bodyPr wrap="square"/>
                    <a:lstStyle/>
                    <a:p>
                      <a:r>
                        <a:rPr sz="1350" b="1">
                          <a:solidFill>
                            <a:srgbClr val="14191D"/>
                          </a:solidFill>
                          <a:latin typeface="Calibri"/>
                        </a:rPr>
                        <a:t>MLP</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0.995 ± 0.001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0.998 ± 0.001</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0.225 ± 0.224</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0.316 ± 0.277</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350" b="0">
                          <a:solidFill>
                            <a:srgbClr val="14191D"/>
                          </a:solidFill>
                          <a:latin typeface="Calibri"/>
                        </a:rPr>
                        <a:t>65,665</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bl>
          </a:graphicData>
        </a:graphic>
      </p:graphicFrame>
      <p:sp>
        <p:nvSpPr>
          <p:cNvPr id="8" name="Rounded Rectangle 7"/>
          <p:cNvSpPr/>
          <p:nvPr/>
        </p:nvSpPr>
        <p:spPr>
          <a:xfrm>
            <a:off x="502920" y="4800600"/>
            <a:ext cx="11155680" cy="132588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4846320"/>
            <a:ext cx="10698480" cy="1234440"/>
          </a:xfrm>
          <a:prstGeom prst="rect">
            <a:avLst/>
          </a:prstGeom>
          <a:noFill/>
        </p:spPr>
        <p:txBody>
          <a:bodyPr wrap="square" anchor="ctr" lIns="36576" rIns="36576" tIns="18288" bIns="18288">
            <a:spAutoFit/>
          </a:bodyPr>
          <a:lstStyle/>
          <a:p>
            <a:pPr algn="l">
              <a:spcAft>
                <a:spcPts val="600"/>
              </a:spcAft>
            </a:pPr>
            <a:r>
              <a:rPr sz="1300" b="0" i="0">
                <a:solidFill>
                  <a:srgbClr val="14191D"/>
                </a:solidFill>
                <a:latin typeface="Calibri"/>
              </a:rPr>
              <a:t>Stability is the score on the first 30 tasks after all 120. Plasticity is the score on the reversed rule after 40 steps, at each model's own learning rate. With the best learning rate and 80 steps it is 0.97 for the circuit, 0.72 for linear and 0.71 for the MLP.</a:t>
            </a:r>
          </a:p>
          <a:p>
            <a:pPr algn="l">
              <a:spcAft>
                <a:spcPts val="600"/>
              </a:spcAft>
            </a:pPr>
            <a:r>
              <a:rPr sz="1300" b="0" i="0">
                <a:solidFill>
                  <a:srgbClr val="14191D"/>
                </a:solidFill>
                <a:latin typeface="Calibri"/>
              </a:rPr>
              <a:t>The MLP has the best raw accuracy and stability, with about 60 times as many parameters.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What the evidence supports</a:t>
            </a:r>
          </a:p>
        </p:txBody>
      </p:sp>
      <p:sp>
        <p:nvSpPr>
          <p:cNvPr id="5" name="TextBox 4"/>
          <p:cNvSpPr txBox="1"/>
          <p:nvPr/>
        </p:nvSpPr>
        <p:spPr>
          <a:xfrm>
            <a:off x="502920" y="1325880"/>
            <a:ext cx="11155680" cy="457200"/>
          </a:xfrm>
          <a:prstGeom prst="rect">
            <a:avLst/>
          </a:prstGeom>
          <a:noFill/>
        </p:spPr>
        <p:txBody>
          <a:bodyPr wrap="square" anchor="t" lIns="36576" rIns="36576" tIns="18288" bIns="18288">
            <a:spAutoFit/>
          </a:bodyPr>
          <a:lstStyle/>
          <a:p>
            <a:pPr algn="l">
              <a:spcAft>
                <a:spcPts val="600"/>
              </a:spcAft>
            </a:pPr>
            <a:r>
              <a:rPr sz="1600" b="0" i="0">
                <a:solidFill>
                  <a:srgbClr val="5B6670"/>
                </a:solidFill>
                <a:latin typeface="Calibri"/>
              </a:rPr>
              <a:t>Each claim and the number behind it</a:t>
            </a:r>
          </a:p>
        </p:txBody>
      </p:sp>
      <p:sp>
        <p:nvSpPr>
          <p:cNvPr id="6" name="TextBox 5"/>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22</a:t>
            </a:r>
          </a:p>
        </p:txBody>
      </p:sp>
      <p:graphicFrame>
        <p:nvGraphicFramePr>
          <p:cNvPr id="7" name="Table 6"/>
          <p:cNvGraphicFramePr>
            <a:graphicFrameLocks noGrp="1"/>
          </p:cNvGraphicFramePr>
          <p:nvPr/>
        </p:nvGraphicFramePr>
        <p:xfrm>
          <a:off x="502920" y="1828800"/>
          <a:ext cx="11155680" cy="4279392"/>
        </p:xfrm>
        <a:graphic>
          <a:graphicData uri="http://schemas.openxmlformats.org/drawingml/2006/table">
            <a:tbl>
              <a:tblPr>
                <a:tableStyleId>{5C22544A-7EE6-4342-B048-85BDC9FD1C3A}</a:tableStyleId>
              </a:tblPr>
              <a:tblGrid>
                <a:gridCol w="4663440"/>
                <a:gridCol w="2194560"/>
                <a:gridCol w="4297680"/>
              </a:tblGrid>
              <a:tr h="475488">
                <a:tc>
                  <a:txBody>
                    <a:bodyPr wrap="square"/>
                    <a:lstStyle/>
                    <a:p>
                      <a:r>
                        <a:rPr sz="1150" b="1">
                          <a:solidFill>
                            <a:srgbClr val="5B6670"/>
                          </a:solidFill>
                          <a:latin typeface="Calibri"/>
                        </a:rPr>
                        <a:t>Claim</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1">
                          <a:solidFill>
                            <a:srgbClr val="5B6670"/>
                          </a:solidFill>
                          <a:latin typeface="Calibri"/>
                        </a:rPr>
                        <a:t>Status</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150" b="1">
                          <a:solidFill>
                            <a:srgbClr val="5B6670"/>
                          </a:solidFill>
                          <a:latin typeface="Calibri"/>
                        </a:rPr>
                        <a:t>Evidence</a:t>
                      </a:r>
                    </a:p>
                  </a:txBody>
                  <a:tcPr marL="91440" marR="91440" marT="36576" marB="36576" anchor="ctr">
                    <a:solidFill>
                      <a:srgbClr val="EAF0F2"/>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75488">
                <a:tc>
                  <a:txBody>
                    <a:bodyPr wrap="square"/>
                    <a:lstStyle/>
                    <a:p>
                      <a:r>
                        <a:rPr sz="1250" b="1">
                          <a:solidFill>
                            <a:srgbClr val="14191D"/>
                          </a:solidFill>
                          <a:latin typeface="Calibri"/>
                        </a:rPr>
                        <a:t>Knowledge in the memory cannot be erased by training</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Supported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append-only store, 3 mutation tests rejected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75488">
                <a:tc>
                  <a:txBody>
                    <a:bodyPr wrap="square"/>
                    <a:lstStyle/>
                    <a:p>
                      <a:r>
                        <a:rPr sz="1250" b="1">
                          <a:solidFill>
                            <a:srgbClr val="14191D"/>
                          </a:solidFill>
                          <a:latin typeface="Calibri"/>
                        </a:rPr>
                        <a:t>Reading out all qubits closes the ranking gap</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Supported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+0.114 MRR on the test split, CI excludes 0</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75488">
                <a:tc>
                  <a:txBody>
                    <a:bodyPr wrap="square"/>
                    <a:lstStyle/>
                    <a:p>
                      <a:r>
                        <a:rPr sz="1250" b="1">
                          <a:solidFill>
                            <a:srgbClr val="14191D"/>
                          </a:solidFill>
                          <a:latin typeface="Calibri"/>
                        </a:rPr>
                        <a:t>The circuit matches a linear model of the same size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Supported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difference 0.001, CI -0.007 to 0.009</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75488">
                <a:tc>
                  <a:txBody>
                    <a:bodyPr wrap="square"/>
                    <a:lstStyle/>
                    <a:p>
                      <a:r>
                        <a:rPr sz="1250" b="1">
                          <a:solidFill>
                            <a:srgbClr val="14191D"/>
                          </a:solidFill>
                          <a:latin typeface="Calibri"/>
                        </a:rPr>
                        <a:t>The circuit ranks better than classical models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Not supported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the MLP scores higher (0.995 vs 0.974)</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75488">
                <a:tc>
                  <a:txBody>
                    <a:bodyPr wrap="square"/>
                    <a:lstStyle/>
                    <a:p>
                      <a:r>
                        <a:rPr sz="1250" b="1">
                          <a:solidFill>
                            <a:srgbClr val="14191D"/>
                          </a:solidFill>
                          <a:latin typeface="Calibri"/>
                        </a:rPr>
                        <a:t>The circuit adapts to new rules faster and more steadily</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Supported, with a caveat</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0.97 vs 0.72 and 0.71 at the best learning rate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75488">
                <a:tc>
                  <a:txBody>
                    <a:bodyPr wrap="square"/>
                    <a:lstStyle/>
                    <a:p>
                      <a:r>
                        <a:rPr sz="1250" b="1">
                          <a:solidFill>
                            <a:srgbClr val="14191D"/>
                          </a:solidFill>
                          <a:latin typeface="Calibri"/>
                        </a:rPr>
                        <a:t>Stale facts are kept below current ones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Mostly</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0.043 error for the circuit, 0.000 for classical, 0.130 for cosine</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75488">
                <a:tc>
                  <a:txBody>
                    <a:bodyPr wrap="square"/>
                    <a:lstStyle/>
                    <a:p>
                      <a:r>
                        <a:rPr sz="1250" b="1">
                          <a:solidFill>
                            <a:srgbClr val="14191D"/>
                          </a:solidFill>
                          <a:latin typeface="Calibri"/>
                        </a:rPr>
                        <a:t>Fisher trace shows capacity is preserved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Not supported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noisy, and the MLP's did not fall</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r h="475488">
                <a:tc>
                  <a:txBody>
                    <a:bodyPr wrap="square"/>
                    <a:lstStyle/>
                    <a:p>
                      <a:r>
                        <a:rPr sz="1250" b="1">
                          <a:solidFill>
                            <a:srgbClr val="14191D"/>
                          </a:solidFill>
                          <a:latin typeface="Calibri"/>
                        </a:rPr>
                        <a:t>Plasticity holds over 1,000+ tasks</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Not tested</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c>
                  <a:txBody>
                    <a:bodyPr wrap="square"/>
                    <a:lstStyle/>
                    <a:p>
                      <a:r>
                        <a:rPr sz="1250" b="0">
                          <a:solidFill>
                            <a:srgbClr val="14191D"/>
                          </a:solidFill>
                          <a:latin typeface="Calibri"/>
                        </a:rPr>
                        <a:t>only 120 tasks were run</a:t>
                      </a:r>
                    </a:p>
                  </a:txBody>
                  <a:tcPr marL="91440" marR="91440" marT="36576" marB="36576" anchor="ctr">
                    <a:solidFill>
                      <a:srgbClr val="FFFFFF"/>
                    </a:solidFill>
                    <a:lnL w="6350" cap="flat" cmpd="sng" algn="ctr">
                      <a:solidFill>
                        <a:srgbClr val="D5DDE1"/>
                      </a:solidFill>
                    </a:lnL>
                    <a:lnR w="6350" cap="flat" cmpd="sng" algn="ctr">
                      <a:solidFill>
                        <a:srgbClr val="D5DDE1"/>
                      </a:solidFill>
                    </a:lnR>
                    <a:lnT w="6350" cap="flat" cmpd="sng" algn="ctr">
                      <a:solidFill>
                        <a:srgbClr val="D5DDE1"/>
                      </a:solidFill>
                    </a:lnT>
                    <a:lnB w="6350" cap="flat" cmpd="sng" algn="ctr">
                      <a:solidFill>
                        <a:srgbClr val="D5DDE1"/>
                      </a:solidFill>
                    </a:lnB>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02920" y="384048"/>
            <a:ext cx="155448" cy="155448"/>
          </a:xfrm>
          <a:prstGeom prst="ellipse">
            <a:avLst/>
          </a:prstGeom>
          <a:solidFill>
            <a:srgbClr val="0B5C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731520" y="384048"/>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621792"/>
            <a:ext cx="11155680" cy="731520"/>
          </a:xfrm>
          <a:prstGeom prst="rect">
            <a:avLst/>
          </a:prstGeom>
          <a:noFill/>
        </p:spPr>
        <p:txBody>
          <a:bodyPr wrap="square" anchor="t" lIns="36576" rIns="36576" tIns="18288" bIns="18288">
            <a:spAutoFit/>
          </a:bodyPr>
          <a:lstStyle/>
          <a:p>
            <a:pPr algn="l">
              <a:spcAft>
                <a:spcPts val="600"/>
              </a:spcAft>
            </a:pPr>
            <a:r>
              <a:rPr sz="3400" b="1" i="0">
                <a:solidFill>
                  <a:srgbClr val="14191D"/>
                </a:solidFill>
                <a:latin typeface="Cambria"/>
              </a:rPr>
              <a:t>Limits and next steps</a:t>
            </a:r>
          </a:p>
        </p:txBody>
      </p:sp>
      <p:sp>
        <p:nvSpPr>
          <p:cNvPr id="5" name="TextBox 4"/>
          <p:cNvSpPr txBox="1"/>
          <p:nvPr/>
        </p:nvSpPr>
        <p:spPr>
          <a:xfrm>
            <a:off x="11155680" y="6355080"/>
            <a:ext cx="640080" cy="274320"/>
          </a:xfrm>
          <a:prstGeom prst="rect">
            <a:avLst/>
          </a:prstGeom>
          <a:noFill/>
        </p:spPr>
        <p:txBody>
          <a:bodyPr wrap="square" anchor="t" lIns="36576" rIns="36576" tIns="18288" bIns="18288">
            <a:spAutoFit/>
          </a:bodyPr>
          <a:lstStyle/>
          <a:p>
            <a:pPr algn="r">
              <a:spcAft>
                <a:spcPts val="600"/>
              </a:spcAft>
            </a:pPr>
            <a:r>
              <a:rPr sz="1100" b="0" i="0">
                <a:solidFill>
                  <a:srgbClr val="8A949B"/>
                </a:solidFill>
                <a:latin typeface="Calibri"/>
              </a:rPr>
              <a:t>23</a:t>
            </a:r>
          </a:p>
        </p:txBody>
      </p:sp>
      <p:sp>
        <p:nvSpPr>
          <p:cNvPr id="6" name="Rounded Rectangle 5"/>
          <p:cNvSpPr/>
          <p:nvPr/>
        </p:nvSpPr>
        <p:spPr>
          <a:xfrm>
            <a:off x="502920" y="1463040"/>
            <a:ext cx="5440680" cy="4480560"/>
          </a:xfrm>
          <a:prstGeom prst="roundRect">
            <a:avLst>
              <a:gd name="adj" fmla="val 3500"/>
            </a:avLst>
          </a:prstGeom>
          <a:solidFill>
            <a:srgbClr val="F6F8F9"/>
          </a:solidFill>
          <a:ln w="12700">
            <a:solidFill>
              <a:srgbClr val="D5DD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45920"/>
            <a:ext cx="4937760" cy="457200"/>
          </a:xfrm>
          <a:prstGeom prst="rect">
            <a:avLst/>
          </a:prstGeom>
          <a:noFill/>
        </p:spPr>
        <p:txBody>
          <a:bodyPr wrap="square" anchor="t" lIns="36576" rIns="36576" tIns="18288" bIns="18288">
            <a:spAutoFit/>
          </a:bodyPr>
          <a:lstStyle/>
          <a:p>
            <a:pPr algn="l">
              <a:spcAft>
                <a:spcPts val="600"/>
              </a:spcAft>
            </a:pPr>
            <a:r>
              <a:rPr sz="2200" b="1" i="0">
                <a:solidFill>
                  <a:srgbClr val="0B5C73"/>
                </a:solidFill>
                <a:latin typeface="Cambria"/>
              </a:rPr>
              <a:t>Limits</a:t>
            </a:r>
          </a:p>
        </p:txBody>
      </p:sp>
      <p:sp>
        <p:nvSpPr>
          <p:cNvPr id="8" name="TextBox 7"/>
          <p:cNvSpPr txBox="1"/>
          <p:nvPr/>
        </p:nvSpPr>
        <p:spPr>
          <a:xfrm>
            <a:off x="777240" y="2240280"/>
            <a:ext cx="4937760" cy="3840480"/>
          </a:xfrm>
          <a:prstGeom prst="rect">
            <a:avLst/>
          </a:prstGeom>
          <a:noFill/>
        </p:spPr>
        <p:txBody>
          <a:bodyPr wrap="square" anchor="t" lIns="36576" rIns="36576" tIns="18288" bIns="18288">
            <a:spAutoFit/>
          </a:bodyPr>
          <a:lstStyle/>
          <a:p>
            <a:pPr algn="l" marL="256032" indent="-256032">
              <a:spcAft>
                <a:spcPts val="1100"/>
              </a:spcAft>
              <a:buChar char="•"/>
            </a:pPr>
            <a:r>
              <a:rPr sz="1550" b="0" i="0">
                <a:solidFill>
                  <a:srgbClr val="14191D"/>
                </a:solidFill>
                <a:latin typeface="Calibri"/>
              </a:rPr>
              <a:t>120 tasks is short. The long-run plasticity claim is untested.</a:t>
            </a:r>
          </a:p>
          <a:p>
            <a:pPr algn="l" marL="256032" indent="-256032">
              <a:spcAft>
                <a:spcPts val="1100"/>
              </a:spcAft>
              <a:buChar char="•"/>
            </a:pPr>
            <a:r>
              <a:rPr sz="1550" b="0" i="0">
                <a:solidFill>
                  <a:srgbClr val="14191D"/>
                </a:solidFill>
                <a:latin typeface="Calibri"/>
              </a:rPr>
              <a:t>The test split has 6 threads, so the significance tests are coarse.</a:t>
            </a:r>
          </a:p>
          <a:p>
            <a:pPr algn="l" marL="256032" indent="-256032">
              <a:spcAft>
                <a:spcPts val="1100"/>
              </a:spcAft>
              <a:buChar char="•"/>
            </a:pPr>
            <a:r>
              <a:rPr sz="1550" b="0" i="0">
                <a:solidFill>
                  <a:srgbClr val="14191D"/>
                </a:solidFill>
                <a:latin typeface="Calibri"/>
              </a:rPr>
              <a:t>The circuit is simulated exactly. There is no hardware or finite-shot run yet.</a:t>
            </a:r>
          </a:p>
          <a:p>
            <a:pPr algn="l" marL="256032" indent="-256032">
              <a:spcAft>
                <a:spcPts val="1100"/>
              </a:spcAft>
              <a:buChar char="•"/>
            </a:pPr>
            <a:r>
              <a:rPr sz="1550" b="0" i="0">
                <a:solidFill>
                  <a:srgbClr val="14191D"/>
                </a:solidFill>
                <a:latin typeface="Calibri"/>
              </a:rPr>
              <a:t>The reversed rule is one defined test of plasticity, not a real shift in a conversation.</a:t>
            </a:r>
          </a:p>
          <a:p>
            <a:pPr algn="l" marL="256032" indent="-256032">
              <a:spcAft>
                <a:spcPts val="1100"/>
              </a:spcAft>
              <a:buChar char="•"/>
            </a:pPr>
            <a:r>
              <a:rPr sz="1550" b="0" i="0">
                <a:solidFill>
                  <a:srgbClr val="14191D"/>
                </a:solidFill>
                <a:latin typeface="Calibri"/>
              </a:rPr>
              <a:t>The circuit still ranks a stale fact first more often than the classical models.</a:t>
            </a:r>
          </a:p>
        </p:txBody>
      </p:sp>
      <p:sp>
        <p:nvSpPr>
          <p:cNvPr id="9" name="Rounded Rectangle 8"/>
          <p:cNvSpPr/>
          <p:nvPr/>
        </p:nvSpPr>
        <p:spPr>
          <a:xfrm>
            <a:off x="6217920" y="1463040"/>
            <a:ext cx="5440680" cy="4480560"/>
          </a:xfrm>
          <a:prstGeom prst="roundRect">
            <a:avLst>
              <a:gd name="adj" fmla="val 3500"/>
            </a:avLst>
          </a:prstGeom>
          <a:solidFill>
            <a:srgbClr val="FAEEF4"/>
          </a:solidFill>
          <a:ln w="12700">
            <a:solidFill>
              <a:srgbClr val="A322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45920"/>
            <a:ext cx="4937760" cy="457200"/>
          </a:xfrm>
          <a:prstGeom prst="rect">
            <a:avLst/>
          </a:prstGeom>
          <a:noFill/>
        </p:spPr>
        <p:txBody>
          <a:bodyPr wrap="square" anchor="t" lIns="36576" rIns="36576" tIns="18288" bIns="18288">
            <a:spAutoFit/>
          </a:bodyPr>
          <a:lstStyle/>
          <a:p>
            <a:pPr algn="l">
              <a:spcAft>
                <a:spcPts val="600"/>
              </a:spcAft>
            </a:pPr>
            <a:r>
              <a:rPr sz="2200" b="1" i="0">
                <a:solidFill>
                  <a:srgbClr val="A3226A"/>
                </a:solidFill>
                <a:latin typeface="Cambria"/>
              </a:rPr>
              <a:t>Next steps</a:t>
            </a:r>
          </a:p>
        </p:txBody>
      </p:sp>
      <p:sp>
        <p:nvSpPr>
          <p:cNvPr id="11" name="TextBox 10"/>
          <p:cNvSpPr txBox="1"/>
          <p:nvPr/>
        </p:nvSpPr>
        <p:spPr>
          <a:xfrm>
            <a:off x="6492240" y="2240280"/>
            <a:ext cx="4937760" cy="3840480"/>
          </a:xfrm>
          <a:prstGeom prst="rect">
            <a:avLst/>
          </a:prstGeom>
          <a:noFill/>
        </p:spPr>
        <p:txBody>
          <a:bodyPr wrap="square" anchor="t" lIns="36576" rIns="36576" tIns="18288" bIns="18288">
            <a:spAutoFit/>
          </a:bodyPr>
          <a:lstStyle/>
          <a:p>
            <a:pPr algn="l">
              <a:spcAft>
                <a:spcPts val="1100"/>
              </a:spcAft>
            </a:pPr>
            <a:r>
              <a:rPr sz="1550" b="0" i="0">
                <a:solidFill>
                  <a:srgbClr val="14191D"/>
                </a:solidFill>
                <a:latin typeface="Calibri"/>
              </a:rPr>
              <a:t>1.  Run 1,000 to 3,000 tasks on 3 seeds and track the reversed-rule score at checkpoints.</a:t>
            </a:r>
          </a:p>
          <a:p>
            <a:pPr algn="l">
              <a:spcAft>
                <a:spcPts val="1100"/>
              </a:spcAft>
            </a:pPr>
            <a:r>
              <a:rPr sz="1550" b="0" i="0">
                <a:solidFill>
                  <a:srgbClr val="14191D"/>
                </a:solidFill>
                <a:latin typeface="Calibri"/>
              </a:rPr>
              <a:t>2.  Generate more held-out threads for tighter statistics.</a:t>
            </a:r>
          </a:p>
          <a:p>
            <a:pPr algn="l">
              <a:spcAft>
                <a:spcPts val="1100"/>
              </a:spcAft>
            </a:pPr>
            <a:r>
              <a:rPr sz="1550" b="0" i="0">
                <a:solidFill>
                  <a:srgbClr val="14191D"/>
                </a:solidFill>
                <a:latin typeface="Calibri"/>
              </a:rPr>
              <a:t>3.  Simulate finite shots and noise for the 10-qubit readout.</a:t>
            </a:r>
          </a:p>
          <a:p>
            <a:pPr algn="l">
              <a:spcAft>
                <a:spcPts val="1100"/>
              </a:spcAft>
            </a:pPr>
            <a:r>
              <a:rPr sz="1550" b="0" i="0">
                <a:solidFill>
                  <a:srgbClr val="14191D"/>
                </a:solidFill>
                <a:latin typeface="Calibri"/>
              </a:rPr>
              <a:t>4.  Replace the extractive reader with a real frozen language model.</a:t>
            </a:r>
          </a:p>
          <a:p>
            <a:pPr algn="l">
              <a:spcAft>
                <a:spcPts val="1100"/>
              </a:spcAft>
            </a:pPr>
            <a:r>
              <a:rPr sz="1550" b="0" i="0">
                <a:solidFill>
                  <a:srgbClr val="14191D"/>
                </a:solidFill>
                <a:latin typeface="Calibri"/>
              </a:rPr>
              <a:t>5.  Add a one-command reproduction script and a scaling study over 8, 10 and 12 qubits.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F26"/>
        </a:solidFill>
        <a:effectLst/>
      </p:bgPr>
    </p:bg>
    <p:spTree>
      <p:nvGrpSpPr>
        <p:cNvPr id="1" name=""/>
        <p:cNvGrpSpPr/>
        <p:nvPr/>
      </p:nvGrpSpPr>
      <p:grpSpPr/>
      <p:sp>
        <p:nvSpPr>
          <p:cNvPr id="2" name="Oval 1"/>
          <p:cNvSpPr/>
          <p:nvPr/>
        </p:nvSpPr>
        <p:spPr>
          <a:xfrm>
            <a:off x="1051560" y="1097280"/>
            <a:ext cx="155448" cy="155448"/>
          </a:xfrm>
          <a:prstGeom prst="ellipse">
            <a:avLst/>
          </a:prstGeom>
          <a:solidFill>
            <a:srgbClr val="CF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097280"/>
            <a:ext cx="155448" cy="155448"/>
          </a:xfrm>
          <a:prstGeom prst="ellipse">
            <a:avLst/>
          </a:prstGeom>
          <a:solidFill>
            <a:srgbClr val="A322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00200"/>
            <a:ext cx="10058400" cy="822960"/>
          </a:xfrm>
          <a:prstGeom prst="rect">
            <a:avLst/>
          </a:prstGeom>
          <a:noFill/>
        </p:spPr>
        <p:txBody>
          <a:bodyPr wrap="square" anchor="t" lIns="36576" rIns="36576" tIns="18288" bIns="18288">
            <a:spAutoFit/>
          </a:bodyPr>
          <a:lstStyle/>
          <a:p>
            <a:pPr algn="l">
              <a:spcAft>
                <a:spcPts val="600"/>
              </a:spcAft>
            </a:pPr>
            <a:r>
              <a:rPr sz="4000" b="1" i="0">
                <a:solidFill>
                  <a:srgbClr val="FFFFFF"/>
                </a:solidFill>
                <a:latin typeface="Cambria"/>
              </a:rPr>
              <a:t>Base paper</a:t>
            </a:r>
          </a:p>
        </p:txBody>
      </p:sp>
      <p:sp>
        <p:nvSpPr>
          <p:cNvPr id="5" name="TextBox 4"/>
          <p:cNvSpPr txBox="1"/>
          <p:nvPr/>
        </p:nvSpPr>
        <p:spPr>
          <a:xfrm>
            <a:off x="1005840" y="2651760"/>
            <a:ext cx="10058400" cy="822960"/>
          </a:xfrm>
          <a:prstGeom prst="rect">
            <a:avLst/>
          </a:prstGeom>
          <a:noFill/>
        </p:spPr>
        <p:txBody>
          <a:bodyPr wrap="square" anchor="t" lIns="36576" rIns="36576" tIns="18288" bIns="18288">
            <a:spAutoFit/>
          </a:bodyPr>
          <a:lstStyle/>
          <a:p>
            <a:pPr algn="l">
              <a:spcAft>
                <a:spcPts val="600"/>
              </a:spcAft>
            </a:pPr>
            <a:r>
              <a:rPr sz="2400" b="1" i="0">
                <a:solidFill>
                  <a:srgbClr val="D3E3E8"/>
                </a:solidFill>
                <a:latin typeface="Cambria"/>
              </a:rPr>
              <a:t>Intrinsic Preservation of Plasticity in Continual Quantum Learning</a:t>
            </a:r>
          </a:p>
        </p:txBody>
      </p:sp>
      <p:sp>
        <p:nvSpPr>
          <p:cNvPr id="6" name="TextBox 5"/>
          <p:cNvSpPr txBox="1"/>
          <p:nvPr/>
        </p:nvSpPr>
        <p:spPr>
          <a:xfrm>
            <a:off x="1051560" y="3291840"/>
            <a:ext cx="10058400" cy="457200"/>
          </a:xfrm>
          <a:prstGeom prst="rect">
            <a:avLst/>
          </a:prstGeom>
          <a:noFill/>
        </p:spPr>
        <p:txBody>
          <a:bodyPr wrap="square" anchor="t" lIns="36576" rIns="36576" tIns="18288" bIns="18288">
            <a:spAutoFit/>
          </a:bodyPr>
          <a:lstStyle/>
          <a:p>
            <a:pPr algn="l">
              <a:spcAft>
                <a:spcPts val="600"/>
              </a:spcAft>
            </a:pPr>
            <a:r>
              <a:rPr sz="1600" b="0" i="0">
                <a:solidFill>
                  <a:srgbClr val="93A9B1"/>
                </a:solidFill>
                <a:latin typeface="Calibri"/>
              </a:rPr>
              <a:t>Yu-Qin Chen and Shi-Xin Zhang · PRX Quantum 7, 033003 (2026)</a:t>
            </a:r>
          </a:p>
        </p:txBody>
      </p:sp>
      <p:sp>
        <p:nvSpPr>
          <p:cNvPr id="7" name="TextBox 6"/>
          <p:cNvSpPr txBox="1"/>
          <p:nvPr/>
        </p:nvSpPr>
        <p:spPr>
          <a:xfrm>
            <a:off x="1051560" y="4023360"/>
            <a:ext cx="9601200" cy="2011680"/>
          </a:xfrm>
          <a:prstGeom prst="rect">
            <a:avLst/>
          </a:prstGeom>
          <a:noFill/>
        </p:spPr>
        <p:txBody>
          <a:bodyPr wrap="square" anchor="t" lIns="36576" rIns="36576" tIns="18288" bIns="18288">
            <a:spAutoFit/>
          </a:bodyPr>
          <a:lstStyle/>
          <a:p>
            <a:pPr algn="l">
              <a:spcAft>
                <a:spcPts val="1000"/>
              </a:spcAft>
            </a:pPr>
            <a:r>
              <a:rPr sz="1600" b="0" i="0">
                <a:solidFill>
                  <a:srgbClr val="D3E3E8"/>
                </a:solidFill>
                <a:latin typeface="Calibri"/>
              </a:rPr>
              <a:t>It shows that quantum models keep plasticity because unitary evolution confines the parameters to a compact manifold.</a:t>
            </a:r>
          </a:p>
          <a:p>
            <a:pPr algn="l">
              <a:spcAft>
                <a:spcPts val="1000"/>
              </a:spcAft>
            </a:pPr>
            <a:r>
              <a:rPr sz="1600" b="0" i="0">
                <a:solidFill>
                  <a:srgbClr val="D3E3E8"/>
                </a:solidFill>
                <a:latin typeface="Calibri"/>
              </a:rPr>
              <a:t>It also states that this does not solve forgetting. Both quantum and classical models still need a separate memory.</a:t>
            </a:r>
          </a:p>
          <a:p>
            <a:pPr algn="l">
              <a:spcAft>
                <a:spcPts val="1000"/>
              </a:spcAft>
            </a:pPr>
            <a:r>
              <a:rPr sz="1600" b="0" i="0">
                <a:solidFill>
                  <a:srgbClr val="D3E3E8"/>
                </a:solidFill>
                <a:latin typeface="Calibri"/>
              </a:rPr>
              <a:t>This project builds the hybrid it points to: a plastic quantum circuit with a classical memory.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